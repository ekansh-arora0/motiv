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12191675"/>
  <p:notesSz cx="6858000" cy="9144000"/>
  <p:embeddedFontLst>
    <p:embeddedFont>
      <p:font typeface="BioRhyme"/>
      <p:regular r:id="rId13"/>
      <p:bold r:id="rId14"/>
    </p:embeddedFont>
    <p:embeddedFont>
      <p:font typeface="Archiv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9" roundtripDataSignature="AMtx7mgxTNgnYZcNb42DcGoPQIwB6bnP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BioRhyme-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rchivo-regular.fntdata"/><Relationship Id="rId14" Type="http://schemas.openxmlformats.org/officeDocument/2006/relationships/font" Target="fonts/BioRhyme-bold.fntdata"/><Relationship Id="rId17" Type="http://schemas.openxmlformats.org/officeDocument/2006/relationships/font" Target="fonts/Archivo-italic.fntdata"/><Relationship Id="rId16" Type="http://schemas.openxmlformats.org/officeDocument/2006/relationships/font" Target="fonts/Archivo-bold.fntdata"/><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Archiv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US" sz="1350">
                <a:solidFill>
                  <a:schemeClr val="dk1"/>
                </a:solidFill>
                <a:latin typeface="Archivo"/>
                <a:ea typeface="Archivo"/>
                <a:cs typeface="Archivo"/>
                <a:sym typeface="Archivo"/>
              </a:rPr>
              <a:t>"Picture this: half of all stroke survivors lose awareness of an entire side of their world. That's millions of people struggling with daily tasks we take for granted. Today, we're introducing Motive AR, an augmented reality solution that </a:t>
            </a:r>
            <a:r>
              <a:rPr i="1" lang="en-US" sz="1350">
                <a:solidFill>
                  <a:schemeClr val="dk1"/>
                </a:solidFill>
                <a:latin typeface="Archivo"/>
                <a:ea typeface="Archivo"/>
                <a:cs typeface="Archivo"/>
                <a:sym typeface="Archivo"/>
              </a:rPr>
              <a:t>forces recovery of </a:t>
            </a:r>
            <a:r>
              <a:rPr i="1" lang="en-US" sz="1350">
                <a:solidFill>
                  <a:schemeClr val="dk1"/>
                </a:solidFill>
                <a:latin typeface="Archivo"/>
                <a:ea typeface="Archivo"/>
                <a:cs typeface="Archivo"/>
                <a:sym typeface="Archivo"/>
              </a:rPr>
              <a:t>hemispatial neglect."</a:t>
            </a:r>
            <a:endParaRPr i="1" sz="1350">
              <a:solidFill>
                <a:schemeClr val="dk1"/>
              </a:solidFill>
              <a:latin typeface="Archivo"/>
              <a:ea typeface="Archivo"/>
              <a:cs typeface="Archivo"/>
              <a:sym typeface="Archivo"/>
            </a:endParaRPr>
          </a:p>
          <a:p>
            <a:pPr indent="0" lvl="0" marL="0" rtl="0" algn="l">
              <a:spcBef>
                <a:spcPts val="0"/>
              </a:spcBef>
              <a:spcAft>
                <a:spcPts val="0"/>
              </a:spcAft>
              <a:buNone/>
            </a:pPr>
            <a:r>
              <a:t/>
            </a:r>
            <a:endParaRPr i="1" sz="1350">
              <a:solidFill>
                <a:schemeClr val="dk1"/>
              </a:solidFill>
              <a:latin typeface="Archivo"/>
              <a:ea typeface="Archivo"/>
              <a:cs typeface="Archivo"/>
              <a:sym typeface="Archivo"/>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This is a hidden crisis. According to research published in Tandfonline in 2025, 50% of stroke survivors experience spatial neglect. Even more alarming: patients with right hemisphere damage? Up to 80% show unilateral neglect, according to NCBI data from 2021. And the overall incidence across all strokes? 38%, reported by AHA Journals just this year. These patients can't eat, dress, or navigate safely without help. Traditional therapy? Limited at best. We need something better.</a:t>
            </a:r>
            <a:endParaRPr/>
          </a:p>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US" sz="1350">
                <a:solidFill>
                  <a:schemeClr val="dk1"/>
                </a:solidFill>
                <a:latin typeface="Archivo"/>
                <a:ea typeface="Archivo"/>
                <a:cs typeface="Archivo"/>
                <a:sym typeface="Archivo"/>
              </a:rPr>
              <a:t>"Enter Motive AR. We've built an adaptive visual therapy system using augmented reality spectacles that does two revolutionary things. First, Peripheral Shrouding, the AR modifies visual perception in real-time, creating what we call a 'visual penalty.' Second, Forced Action Therapy, patients must actively engage to restore their </a:t>
            </a:r>
            <a:r>
              <a:rPr i="1" lang="en-US" sz="1350">
                <a:solidFill>
                  <a:schemeClr val="dk1"/>
                </a:solidFill>
                <a:latin typeface="Archivo"/>
                <a:ea typeface="Archivo"/>
                <a:cs typeface="Archivo"/>
                <a:sym typeface="Archivo"/>
              </a:rPr>
              <a:t>vision</a:t>
            </a:r>
            <a:r>
              <a:rPr i="1" lang="en-US" sz="1350">
                <a:solidFill>
                  <a:schemeClr val="dk1"/>
                </a:solidFill>
                <a:latin typeface="Archivo"/>
                <a:ea typeface="Archivo"/>
                <a:cs typeface="Archivo"/>
                <a:sym typeface="Archivo"/>
              </a:rPr>
              <a:t>. This isn't passive rehabilitation. This is active, forced recovery. Here's how it actually works..."</a:t>
            </a:r>
            <a:endParaRPr i="1" sz="1350">
              <a:solidFill>
                <a:schemeClr val="dk1"/>
              </a:solidFill>
              <a:latin typeface="Archivo"/>
              <a:ea typeface="Archivo"/>
              <a:cs typeface="Archivo"/>
              <a:sym typeface="Archivo"/>
            </a:endParaRPr>
          </a:p>
          <a:p>
            <a:pPr indent="0" lvl="0" marL="0" rtl="0" algn="l">
              <a:spcBef>
                <a:spcPts val="0"/>
              </a:spcBef>
              <a:spcAft>
                <a:spcPts val="0"/>
              </a:spcAft>
              <a:buNone/>
            </a:pPr>
            <a:r>
              <a:t/>
            </a:r>
            <a:endParaRPr i="1" sz="1350">
              <a:solidFill>
                <a:schemeClr val="dk1"/>
              </a:solidFill>
              <a:latin typeface="Archivo"/>
              <a:ea typeface="Archivo"/>
              <a:cs typeface="Archivo"/>
              <a:sym typeface="Archivo"/>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mechanism is simple but powerful. Step one: Detection. Our system monitors the patient's limb movements in real-time. When we detect that the left side has been resting too long, step two activates: Adaptive Shrouding. The right visual field gradually darkens, this is the visual penalty. Now here's the magic, step three: Forced Recovery. The patient must use their affected hand to literally 'wipe the air,' clearing the visual obstacles and restoring clear vision. </a:t>
            </a:r>
            <a:endParaRPr/>
          </a:p>
        </p:txBody>
      </p:sp>
      <p:sp>
        <p:nvSpPr>
          <p:cNvPr id="142" name="Google Shape;1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And this isn't just an idea, research backs every component. A 2023 PMC study shows VR and AR help in early rehabilitation with better post-stroke results. Wiley published findings just last year that AR technology significantly improves functional rehabilitation outcomes. And visual scanning training? Proven effective for neglect treatment in a 2013 PMC study. We're not reinventing the wheel, we're combining proven approaches into one seamless, AR-powered solution.</a:t>
            </a:r>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de6623f9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US" sz="1200">
                <a:solidFill>
                  <a:schemeClr val="dk1"/>
                </a:solidFill>
                <a:latin typeface="Archivo"/>
                <a:ea typeface="Archivo"/>
                <a:cs typeface="Archivo"/>
                <a:sym typeface="Archivo"/>
              </a:rPr>
              <a:t>But here's where it gets really exciting, this isn't just for hemispatial neglect. Neurodegenerative diseases like Parkinson's, MS, Huntington's? Proprioceptive signals are distorted, but forced visual engagement can recalibrate them. Developmental disorders like Cerebral Palsy and Dyspraxia? The brain never learned proper calibration, so we can teach it. Even peripheral nerve damage and psychological conditions like Functional Neurological Disorder has the same same principle: force the brain-body connection through adaptive visual feedback. One platform. Millions of patients. Countless conditions. That's the power of Motive AR.</a:t>
            </a:r>
            <a:endParaRPr i="1" sz="1200">
              <a:solidFill>
                <a:schemeClr val="dk1"/>
              </a:solidFill>
              <a:latin typeface="Archivo"/>
              <a:ea typeface="Archivo"/>
              <a:cs typeface="Archivo"/>
              <a:sym typeface="Archivo"/>
            </a:endParaRPr>
          </a:p>
          <a:p>
            <a:pPr indent="0" lvl="0" marL="0" rtl="0" algn="l">
              <a:spcBef>
                <a:spcPts val="0"/>
              </a:spcBef>
              <a:spcAft>
                <a:spcPts val="0"/>
              </a:spcAft>
              <a:buNone/>
            </a:pPr>
            <a:r>
              <a:t/>
            </a:r>
            <a:endParaRPr i="1" sz="1200">
              <a:solidFill>
                <a:schemeClr val="dk1"/>
              </a:solidFill>
              <a:latin typeface="Archivo"/>
              <a:ea typeface="Archivo"/>
              <a:cs typeface="Archivo"/>
              <a:sym typeface="Archivo"/>
            </a:endParaRPr>
          </a:p>
        </p:txBody>
      </p:sp>
      <p:sp>
        <p:nvSpPr>
          <p:cNvPr id="201" name="Google Shape;201;g3cde6623f9b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de6623f9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We're standing at the intersection of neuroscience and technology, ready to change how stroke rehabilitation works forever. Motive AR isn't just a tool, it's a movement. Join us in revolutionizing stroke rehabilitation. Let's give patients their movement back, one wipe at a time. Thank you.</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248" name="Google Shape;248;g3cde6623f9b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1792288" y="612775"/>
            <a:ext cx="5486400" cy="4114800"/>
          </a:xfrm>
          <a:prstGeom prst="rect">
            <a:avLst/>
          </a:prstGeom>
          <a:noFill/>
          <a:ln>
            <a:noFill/>
          </a:ln>
        </p:spPr>
      </p:sp>
      <p:sp>
        <p:nvSpPr>
          <p:cNvPr id="64" name="Google Shape;64;p1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jp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
          <p:cNvSpPr/>
          <p:nvPr/>
        </p:nvSpPr>
        <p:spPr>
          <a:xfrm>
            <a:off x="0" y="0"/>
            <a:ext cx="12191700" cy="6858000"/>
          </a:xfrm>
          <a:prstGeom prst="rect">
            <a:avLst/>
          </a:prstGeom>
          <a:gradFill>
            <a:gsLst>
              <a:gs pos="0">
                <a:srgbClr val="193328">
                  <a:alpha val="94901"/>
                </a:srgbClr>
              </a:gs>
              <a:gs pos="100000">
                <a:srgbClr val="193328">
                  <a:alpha val="85098"/>
                </a:srgbClr>
              </a:gs>
            </a:gsLst>
            <a:lin ang="81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txBox="1"/>
          <p:nvPr/>
        </p:nvSpPr>
        <p:spPr>
          <a:xfrm>
            <a:off x="666733" y="1495424"/>
            <a:ext cx="1990800" cy="239700"/>
          </a:xfrm>
          <a:prstGeom prst="rect">
            <a:avLst/>
          </a:prstGeom>
          <a:noFill/>
          <a:ln>
            <a:noFill/>
          </a:ln>
        </p:spPr>
        <p:txBody>
          <a:bodyPr anchorCtr="0" anchor="ctr" bIns="54850" lIns="73150" spcFirstLastPara="1" rIns="73150" wrap="square" tIns="54850">
            <a:spAutoFit/>
          </a:bodyPr>
          <a:lstStyle/>
          <a:p>
            <a:pPr indent="0" lvl="0" marL="0" marR="0" rtl="0" algn="l">
              <a:lnSpc>
                <a:spcPct val="155316"/>
              </a:lnSpc>
              <a:spcBef>
                <a:spcPts val="0"/>
              </a:spcBef>
              <a:spcAft>
                <a:spcPts val="0"/>
              </a:spcAft>
              <a:buNone/>
            </a:pPr>
            <a:r>
              <a:rPr b="1" lang="en-US" sz="837">
                <a:solidFill>
                  <a:srgbClr val="193328"/>
                </a:solidFill>
                <a:latin typeface="Archivo"/>
                <a:ea typeface="Archivo"/>
                <a:cs typeface="Archivo"/>
                <a:sym typeface="Archivo"/>
              </a:rPr>
              <a:t>HACKTJ</a:t>
            </a:r>
            <a:endParaRPr/>
          </a:p>
        </p:txBody>
      </p:sp>
      <p:sp>
        <p:nvSpPr>
          <p:cNvPr id="86" name="Google Shape;86;p1"/>
          <p:cNvSpPr txBox="1"/>
          <p:nvPr/>
        </p:nvSpPr>
        <p:spPr>
          <a:xfrm>
            <a:off x="462786" y="1859540"/>
            <a:ext cx="7677000" cy="970500"/>
          </a:xfrm>
          <a:prstGeom prst="rect">
            <a:avLst/>
          </a:prstGeom>
          <a:noFill/>
          <a:ln>
            <a:noFill/>
          </a:ln>
        </p:spPr>
        <p:txBody>
          <a:bodyPr anchorCtr="0" anchor="ctr" bIns="54850" lIns="73150" spcFirstLastPara="1" rIns="73150" wrap="square" tIns="54850">
            <a:spAutoFit/>
          </a:bodyPr>
          <a:lstStyle/>
          <a:p>
            <a:pPr indent="0" lvl="0" marL="0" marR="0" rtl="0" algn="l">
              <a:lnSpc>
                <a:spcPct val="119565"/>
              </a:lnSpc>
              <a:spcBef>
                <a:spcPts val="0"/>
              </a:spcBef>
              <a:spcAft>
                <a:spcPts val="0"/>
              </a:spcAft>
              <a:buNone/>
            </a:pPr>
            <a:r>
              <a:rPr b="1" i="0" lang="en-US" sz="5586" u="none" cap="none" strike="noStrike">
                <a:solidFill>
                  <a:srgbClr val="FFFFFF"/>
                </a:solidFill>
                <a:latin typeface="BioRhyme"/>
                <a:ea typeface="BioRhyme"/>
                <a:cs typeface="BioRhyme"/>
                <a:sym typeface="BioRhyme"/>
              </a:rPr>
              <a:t> Motive</a:t>
            </a:r>
            <a:r>
              <a:rPr b="1" i="0" lang="en-US" sz="5586" u="none" cap="none" strike="noStrike">
                <a:solidFill>
                  <a:srgbClr val="2DFF99"/>
                </a:solidFill>
                <a:latin typeface="BioRhyme"/>
                <a:ea typeface="BioRhyme"/>
                <a:cs typeface="BioRhyme"/>
                <a:sym typeface="BioRhyme"/>
              </a:rPr>
              <a:t> AR</a:t>
            </a:r>
            <a:r>
              <a:rPr b="1" i="0" lang="en-US" sz="5586" u="none" cap="none" strike="noStrike">
                <a:solidFill>
                  <a:srgbClr val="FFFFFF"/>
                </a:solidFill>
                <a:latin typeface="BioRhyme"/>
                <a:ea typeface="BioRhyme"/>
                <a:cs typeface="BioRhyme"/>
                <a:sym typeface="BioRhyme"/>
              </a:rPr>
              <a:t> </a:t>
            </a:r>
            <a:endParaRPr b="1" sz="2800"/>
          </a:p>
        </p:txBody>
      </p:sp>
      <p:sp>
        <p:nvSpPr>
          <p:cNvPr id="87" name="Google Shape;87;p1"/>
          <p:cNvSpPr txBox="1"/>
          <p:nvPr/>
        </p:nvSpPr>
        <p:spPr>
          <a:xfrm>
            <a:off x="666733" y="3035400"/>
            <a:ext cx="7677000" cy="10074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2213" u="none" cap="none" strike="noStrike">
                <a:solidFill>
                  <a:srgbClr val="FFFFFF"/>
                </a:solidFill>
                <a:latin typeface="Archivo"/>
                <a:ea typeface="Archivo"/>
                <a:cs typeface="Archivo"/>
                <a:sym typeface="Archivo"/>
              </a:rPr>
              <a:t> Reclaiming </a:t>
            </a:r>
            <a:r>
              <a:rPr lang="en-US" sz="2213">
                <a:solidFill>
                  <a:srgbClr val="FFFFFF"/>
                </a:solidFill>
                <a:latin typeface="Archivo"/>
                <a:ea typeface="Archivo"/>
                <a:cs typeface="Archivo"/>
                <a:sym typeface="Archivo"/>
              </a:rPr>
              <a:t>Motion</a:t>
            </a:r>
            <a:r>
              <a:rPr b="0" i="0" lang="en-US" sz="2213" u="none" cap="none" strike="noStrike">
                <a:solidFill>
                  <a:srgbClr val="FFFFFF"/>
                </a:solidFill>
                <a:latin typeface="Archivo"/>
                <a:ea typeface="Archivo"/>
                <a:cs typeface="Archivo"/>
                <a:sym typeface="Archivo"/>
              </a:rPr>
              <a:t> Through</a:t>
            </a:r>
            <a:br>
              <a:rPr b="0" i="0" lang="en-US" sz="1404" u="none" cap="none" strike="noStrike">
                <a:solidFill>
                  <a:schemeClr val="dk1"/>
                </a:solidFill>
                <a:latin typeface="Calibri"/>
                <a:ea typeface="Calibri"/>
                <a:cs typeface="Calibri"/>
                <a:sym typeface="Calibri"/>
              </a:rPr>
            </a:br>
            <a:r>
              <a:rPr b="0" i="0" lang="en-US" sz="2213" u="none" cap="none" strike="noStrike">
                <a:solidFill>
                  <a:srgbClr val="FFFFFF"/>
                </a:solidFill>
                <a:latin typeface="Archivo"/>
                <a:ea typeface="Archivo"/>
                <a:cs typeface="Archivo"/>
                <a:sym typeface="Archivo"/>
              </a:rPr>
              <a:t> </a:t>
            </a:r>
            <a:r>
              <a:rPr b="1" i="0" lang="en-US" sz="2213" u="none" cap="none" strike="noStrike">
                <a:solidFill>
                  <a:srgbClr val="2DFF99"/>
                </a:solidFill>
                <a:latin typeface="Archivo"/>
                <a:ea typeface="Archivo"/>
                <a:cs typeface="Archivo"/>
                <a:sym typeface="Archivo"/>
              </a:rPr>
              <a:t>Augmented Reality</a:t>
            </a:r>
            <a:r>
              <a:rPr b="0" i="0" lang="en-US" sz="2213" u="none" cap="none" strike="noStrike">
                <a:solidFill>
                  <a:srgbClr val="FFFFFF"/>
                </a:solidFill>
                <a:latin typeface="Archivo"/>
                <a:ea typeface="Archivo"/>
                <a:cs typeface="Archivo"/>
                <a:sym typeface="Archivo"/>
              </a:rPr>
              <a:t> </a:t>
            </a:r>
            <a:endParaRPr sz="1700"/>
          </a:p>
        </p:txBody>
      </p:sp>
      <p:sp>
        <p:nvSpPr>
          <p:cNvPr id="88" name="Google Shape;88;p1"/>
          <p:cNvSpPr txBox="1"/>
          <p:nvPr/>
        </p:nvSpPr>
        <p:spPr>
          <a:xfrm>
            <a:off x="666733" y="4248150"/>
            <a:ext cx="4876800" cy="783600"/>
          </a:xfrm>
          <a:prstGeom prst="rect">
            <a:avLst/>
          </a:prstGeom>
          <a:noFill/>
          <a:ln>
            <a:noFill/>
          </a:ln>
        </p:spPr>
        <p:txBody>
          <a:bodyPr anchorCtr="0" anchor="ctr" bIns="54850" lIns="73150" spcFirstLastPara="1" rIns="73150" wrap="square" tIns="54850">
            <a:spAutoFit/>
          </a:bodyPr>
          <a:lstStyle/>
          <a:p>
            <a:pPr indent="0" lvl="0" marL="0" marR="0" rtl="0" algn="l">
              <a:lnSpc>
                <a:spcPct val="173913"/>
              </a:lnSpc>
              <a:spcBef>
                <a:spcPts val="0"/>
              </a:spcBef>
              <a:spcAft>
                <a:spcPts val="0"/>
              </a:spcAft>
              <a:buNone/>
            </a:pPr>
            <a:r>
              <a:rPr b="0" i="0" lang="en-US" sz="1596" u="none" cap="none" strike="noStrike">
                <a:solidFill>
                  <a:srgbClr val="D1D5DB"/>
                </a:solidFill>
                <a:latin typeface="Archivo"/>
                <a:ea typeface="Archivo"/>
                <a:cs typeface="Archivo"/>
                <a:sym typeface="Archivo"/>
              </a:rPr>
              <a:t>Transforming stroke rehabilitation with adaptive visual therapy</a:t>
            </a:r>
            <a:endParaRPr sz="1800"/>
          </a:p>
        </p:txBody>
      </p:sp>
      <p:sp>
        <p:nvSpPr>
          <p:cNvPr id="89" name="Google Shape;89;p1"/>
          <p:cNvSpPr/>
          <p:nvPr/>
        </p:nvSpPr>
        <p:spPr>
          <a:xfrm>
            <a:off x="0" y="6819900"/>
            <a:ext cx="12191695" cy="38100"/>
          </a:xfrm>
          <a:prstGeom prst="rect">
            <a:avLst/>
          </a:prstGeom>
          <a:gradFill>
            <a:gsLst>
              <a:gs pos="0">
                <a:srgbClr val="000000">
                  <a:alpha val="0"/>
                </a:srgbClr>
              </a:gs>
              <a:gs pos="50000">
                <a:srgbClr val="2DFF99"/>
              </a:gs>
              <a:gs pos="100000">
                <a:srgbClr val="000000">
                  <a:alpha val="0"/>
                </a:srgbClr>
              </a:gs>
            </a:gsLst>
            <a:lin ang="108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666725" y="5243550"/>
            <a:ext cx="4553700" cy="6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50">
                <a:solidFill>
                  <a:schemeClr val="lt1"/>
                </a:solidFill>
                <a:latin typeface="Archivo"/>
                <a:ea typeface="Archivo"/>
                <a:cs typeface="Archivo"/>
                <a:sym typeface="Archivo"/>
              </a:rPr>
              <a:t>Avi A &amp; Ekansh A</a:t>
            </a:r>
            <a:endParaRPr b="1" sz="1350">
              <a:solidFill>
                <a:schemeClr val="lt1"/>
              </a:solidFill>
              <a:latin typeface="Archivo"/>
              <a:ea typeface="Archivo"/>
              <a:cs typeface="Archivo"/>
              <a:sym typeface="Archiv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3328"/>
        </a:solidFill>
      </p:bgPr>
    </p:bg>
    <p:spTree>
      <p:nvGrpSpPr>
        <p:cNvPr id="94" name="Shape 94"/>
        <p:cNvGrpSpPr/>
        <p:nvPr/>
      </p:nvGrpSpPr>
      <p:grpSpPr>
        <a:xfrm>
          <a:off x="0" y="0"/>
          <a:ext cx="0" cy="0"/>
          <a:chOff x="0" y="0"/>
          <a:chExt cx="0" cy="0"/>
        </a:xfrm>
      </p:grpSpPr>
      <p:sp>
        <p:nvSpPr>
          <p:cNvPr id="95" name="Google Shape;95;p2"/>
          <p:cNvSpPr txBox="1"/>
          <p:nvPr/>
        </p:nvSpPr>
        <p:spPr>
          <a:xfrm>
            <a:off x="666718" y="114300"/>
            <a:ext cx="5973900" cy="586800"/>
          </a:xfrm>
          <a:prstGeom prst="rect">
            <a:avLst/>
          </a:prstGeom>
          <a:noFill/>
          <a:ln>
            <a:noFill/>
          </a:ln>
        </p:spPr>
        <p:txBody>
          <a:bodyPr anchorCtr="0" anchor="ctr" bIns="54850" lIns="73150" spcFirstLastPara="1" rIns="73150" wrap="square" tIns="54850">
            <a:spAutoFit/>
          </a:bodyPr>
          <a:lstStyle/>
          <a:p>
            <a:pPr indent="0" lvl="0" marL="0" marR="0" rtl="0" algn="l">
              <a:lnSpc>
                <a:spcPct val="163043"/>
              </a:lnSpc>
              <a:spcBef>
                <a:spcPts val="0"/>
              </a:spcBef>
              <a:spcAft>
                <a:spcPts val="0"/>
              </a:spcAft>
              <a:buNone/>
            </a:pPr>
            <a:r>
              <a:rPr b="1" i="0" lang="en-US" sz="3092" u="none" cap="none" strike="noStrike">
                <a:solidFill>
                  <a:srgbClr val="FFFFFF"/>
                </a:solidFill>
                <a:latin typeface="BioRhyme"/>
                <a:ea typeface="BioRhyme"/>
                <a:cs typeface="BioRhyme"/>
                <a:sym typeface="BioRhyme"/>
              </a:rPr>
              <a:t> A </a:t>
            </a:r>
            <a:r>
              <a:rPr b="1" i="0" lang="en-US" sz="3092" u="none" cap="none" strike="noStrike">
                <a:solidFill>
                  <a:srgbClr val="2DFF99"/>
                </a:solidFill>
                <a:latin typeface="BioRhyme"/>
                <a:ea typeface="BioRhyme"/>
                <a:cs typeface="BioRhyme"/>
                <a:sym typeface="BioRhyme"/>
              </a:rPr>
              <a:t>Hidden Crisis</a:t>
            </a:r>
            <a:r>
              <a:rPr b="1" i="0" lang="en-US" sz="3092" u="none" cap="none" strike="noStrike">
                <a:solidFill>
                  <a:srgbClr val="FFFFFF"/>
                </a:solidFill>
                <a:latin typeface="BioRhyme"/>
                <a:ea typeface="BioRhyme"/>
                <a:cs typeface="BioRhyme"/>
                <a:sym typeface="BioRhyme"/>
              </a:rPr>
              <a:t> </a:t>
            </a:r>
            <a:endParaRPr sz="2100"/>
          </a:p>
        </p:txBody>
      </p:sp>
      <p:sp>
        <p:nvSpPr>
          <p:cNvPr id="96" name="Google Shape;96;p2"/>
          <p:cNvSpPr/>
          <p:nvPr/>
        </p:nvSpPr>
        <p:spPr>
          <a:xfrm>
            <a:off x="666733" y="1266824"/>
            <a:ext cx="5276718" cy="2724150"/>
          </a:xfrm>
          <a:prstGeom prst="roundRect">
            <a:avLst>
              <a:gd fmla="val 8391"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7" name="Google Shape;97;p2"/>
          <p:cNvPicPr preferRelativeResize="0"/>
          <p:nvPr/>
        </p:nvPicPr>
        <p:blipFill rotWithShape="1">
          <a:blip r:embed="rId3">
            <a:alphaModFix/>
          </a:blip>
          <a:srcRect b="0" l="0" r="0" t="0"/>
          <a:stretch/>
        </p:blipFill>
        <p:spPr>
          <a:xfrm>
            <a:off x="990575" y="1649290"/>
            <a:ext cx="304792" cy="187569"/>
          </a:xfrm>
          <a:prstGeom prst="rect">
            <a:avLst/>
          </a:prstGeom>
          <a:noFill/>
          <a:ln>
            <a:noFill/>
          </a:ln>
        </p:spPr>
      </p:pic>
      <p:sp>
        <p:nvSpPr>
          <p:cNvPr id="98" name="Google Shape;98;p2"/>
          <p:cNvSpPr txBox="1"/>
          <p:nvPr/>
        </p:nvSpPr>
        <p:spPr>
          <a:xfrm>
            <a:off x="1441856" y="1609725"/>
            <a:ext cx="1545600" cy="322500"/>
          </a:xfrm>
          <a:prstGeom prst="rect">
            <a:avLst/>
          </a:prstGeom>
          <a:noFill/>
          <a:ln>
            <a:noFill/>
          </a:ln>
        </p:spPr>
        <p:txBody>
          <a:bodyPr anchorCtr="0" anchor="ctr" bIns="54850" lIns="73150" spcFirstLastPara="1" rIns="73150" wrap="square" tIns="54850">
            <a:spAutoFit/>
          </a:bodyPr>
          <a:lstStyle/>
          <a:p>
            <a:pPr indent="0" lvl="0" marL="0" marR="0" rtl="0" algn="l">
              <a:lnSpc>
                <a:spcPct val="169144"/>
              </a:lnSpc>
              <a:spcBef>
                <a:spcPts val="0"/>
              </a:spcBef>
              <a:spcAft>
                <a:spcPts val="0"/>
              </a:spcAft>
              <a:buNone/>
            </a:pPr>
            <a:r>
              <a:rPr b="1" i="0" lang="en-US" sz="1376" u="none" cap="none" strike="noStrike">
                <a:solidFill>
                  <a:srgbClr val="D1D5DB"/>
                </a:solidFill>
                <a:latin typeface="Archivo"/>
                <a:ea typeface="Archivo"/>
                <a:cs typeface="Archivo"/>
                <a:sym typeface="Archivo"/>
              </a:rPr>
              <a:t>Stroke Survivors</a:t>
            </a:r>
            <a:endParaRPr b="1" sz="1700"/>
          </a:p>
        </p:txBody>
      </p:sp>
      <p:sp>
        <p:nvSpPr>
          <p:cNvPr id="99" name="Google Shape;99;p2"/>
          <p:cNvSpPr txBox="1"/>
          <p:nvPr/>
        </p:nvSpPr>
        <p:spPr>
          <a:xfrm>
            <a:off x="990575" y="2047874"/>
            <a:ext cx="4629034" cy="914400"/>
          </a:xfrm>
          <a:prstGeom prst="rect">
            <a:avLst/>
          </a:prstGeom>
          <a:noFill/>
          <a:ln>
            <a:noFill/>
          </a:ln>
        </p:spPr>
        <p:txBody>
          <a:bodyPr anchorCtr="0" anchor="ctr" bIns="54850" lIns="73150" spcFirstLastPara="1" rIns="73150" wrap="square" tIns="54850">
            <a:spAutoFit/>
          </a:bodyPr>
          <a:lstStyle/>
          <a:p>
            <a:pPr indent="0" lvl="0" marL="0" marR="0" rtl="0" algn="l">
              <a:lnSpc>
                <a:spcPct val="108710"/>
              </a:lnSpc>
              <a:spcBef>
                <a:spcPts val="0"/>
              </a:spcBef>
              <a:spcAft>
                <a:spcPts val="0"/>
              </a:spcAft>
              <a:buNone/>
            </a:pPr>
            <a:r>
              <a:rPr b="1" i="0" lang="en-US" sz="5740" u="none" cap="none" strike="noStrike">
                <a:solidFill>
                  <a:srgbClr val="2DFF99"/>
                </a:solidFill>
                <a:latin typeface="BioRhyme"/>
                <a:ea typeface="BioRhyme"/>
                <a:cs typeface="BioRhyme"/>
                <a:sym typeface="BioRhyme"/>
              </a:rPr>
              <a:t>50%</a:t>
            </a:r>
            <a:endParaRPr/>
          </a:p>
        </p:txBody>
      </p:sp>
      <p:sp>
        <p:nvSpPr>
          <p:cNvPr id="100" name="Google Shape;100;p2"/>
          <p:cNvSpPr txBox="1"/>
          <p:nvPr/>
        </p:nvSpPr>
        <p:spPr>
          <a:xfrm>
            <a:off x="990575" y="3076574"/>
            <a:ext cx="4629034" cy="285750"/>
          </a:xfrm>
          <a:prstGeom prst="rect">
            <a:avLst/>
          </a:prstGeom>
          <a:noFill/>
          <a:ln>
            <a:noFill/>
          </a:ln>
        </p:spPr>
        <p:txBody>
          <a:bodyPr anchorCtr="0" anchor="ctr" bIns="54850" lIns="73150" spcFirstLastPara="1" rIns="73150" wrap="square" tIns="54850">
            <a:spAutoFit/>
          </a:bodyPr>
          <a:lstStyle/>
          <a:p>
            <a:pPr indent="0" lvl="0" marL="0" marR="0" rtl="0" algn="l">
              <a:lnSpc>
                <a:spcPct val="148288"/>
              </a:lnSpc>
              <a:spcBef>
                <a:spcPts val="0"/>
              </a:spcBef>
              <a:spcAft>
                <a:spcPts val="0"/>
              </a:spcAft>
              <a:buNone/>
            </a:pPr>
            <a:r>
              <a:rPr b="0" i="0" lang="en-US" sz="1315" u="none" cap="none" strike="noStrike">
                <a:solidFill>
                  <a:srgbClr val="FFFFFF"/>
                </a:solidFill>
                <a:latin typeface="Archivo"/>
                <a:ea typeface="Archivo"/>
                <a:cs typeface="Archivo"/>
                <a:sym typeface="Archivo"/>
              </a:rPr>
              <a:t>experience spatial neglect</a:t>
            </a:r>
            <a:endParaRPr/>
          </a:p>
        </p:txBody>
      </p:sp>
      <p:sp>
        <p:nvSpPr>
          <p:cNvPr id="101" name="Google Shape;101;p2"/>
          <p:cNvSpPr txBox="1"/>
          <p:nvPr/>
        </p:nvSpPr>
        <p:spPr>
          <a:xfrm>
            <a:off x="990575" y="3476624"/>
            <a:ext cx="4629034" cy="190499"/>
          </a:xfrm>
          <a:prstGeom prst="rect">
            <a:avLst/>
          </a:prstGeom>
          <a:noFill/>
          <a:ln>
            <a:noFill/>
          </a:ln>
        </p:spPr>
        <p:txBody>
          <a:bodyPr anchorCtr="0" anchor="ctr" bIns="54850" lIns="73150" spcFirstLastPara="1" rIns="73150" wrap="square" tIns="54850">
            <a:spAutoFit/>
          </a:bodyPr>
          <a:lstStyle/>
          <a:p>
            <a:pPr indent="0" lvl="0" marL="0" marR="0" rtl="0" algn="l">
              <a:lnSpc>
                <a:spcPct val="155316"/>
              </a:lnSpc>
              <a:spcBef>
                <a:spcPts val="0"/>
              </a:spcBef>
              <a:spcAft>
                <a:spcPts val="0"/>
              </a:spcAft>
              <a:buNone/>
            </a:pPr>
            <a:r>
              <a:rPr b="0" i="0" lang="en-US" sz="837" u="none" cap="none" strike="noStrike">
                <a:solidFill>
                  <a:srgbClr val="9CA3AF"/>
                </a:solidFill>
                <a:latin typeface="Archivo"/>
                <a:ea typeface="Archivo"/>
                <a:cs typeface="Archivo"/>
                <a:sym typeface="Archivo"/>
              </a:rPr>
              <a:t>Tandfonline, 2025</a:t>
            </a:r>
            <a:endParaRPr/>
          </a:p>
        </p:txBody>
      </p:sp>
      <p:sp>
        <p:nvSpPr>
          <p:cNvPr id="102" name="Google Shape;102;p2"/>
          <p:cNvSpPr/>
          <p:nvPr/>
        </p:nvSpPr>
        <p:spPr>
          <a:xfrm>
            <a:off x="6248243" y="1266824"/>
            <a:ext cx="5276718" cy="2724150"/>
          </a:xfrm>
          <a:prstGeom prst="roundRect">
            <a:avLst>
              <a:gd fmla="val 8391"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3" name="Google Shape;103;p2"/>
          <p:cNvPicPr preferRelativeResize="0"/>
          <p:nvPr/>
        </p:nvPicPr>
        <p:blipFill rotWithShape="1">
          <a:blip r:embed="rId4">
            <a:alphaModFix/>
          </a:blip>
          <a:srcRect b="0" l="0" r="0" t="0"/>
          <a:stretch/>
        </p:blipFill>
        <p:spPr>
          <a:xfrm>
            <a:off x="6572085" y="1625844"/>
            <a:ext cx="304792" cy="234461"/>
          </a:xfrm>
          <a:prstGeom prst="rect">
            <a:avLst/>
          </a:prstGeom>
          <a:noFill/>
          <a:ln>
            <a:noFill/>
          </a:ln>
        </p:spPr>
      </p:pic>
      <p:sp>
        <p:nvSpPr>
          <p:cNvPr id="104" name="Google Shape;104;p2"/>
          <p:cNvSpPr txBox="1"/>
          <p:nvPr/>
        </p:nvSpPr>
        <p:spPr>
          <a:xfrm>
            <a:off x="7045925" y="1611075"/>
            <a:ext cx="2341800" cy="322500"/>
          </a:xfrm>
          <a:prstGeom prst="rect">
            <a:avLst/>
          </a:prstGeom>
          <a:noFill/>
          <a:ln>
            <a:noFill/>
          </a:ln>
        </p:spPr>
        <p:txBody>
          <a:bodyPr anchorCtr="0" anchor="ctr" bIns="54850" lIns="73150" spcFirstLastPara="1" rIns="73150" wrap="square" tIns="54850">
            <a:spAutoFit/>
          </a:bodyPr>
          <a:lstStyle/>
          <a:p>
            <a:pPr indent="0" lvl="0" marL="0" marR="0" rtl="0" algn="l">
              <a:lnSpc>
                <a:spcPct val="169144"/>
              </a:lnSpc>
              <a:spcBef>
                <a:spcPts val="0"/>
              </a:spcBef>
              <a:spcAft>
                <a:spcPts val="0"/>
              </a:spcAft>
              <a:buNone/>
            </a:pPr>
            <a:r>
              <a:rPr b="1" i="0" lang="en-US" sz="1376" u="none" cap="none" strike="noStrike">
                <a:solidFill>
                  <a:srgbClr val="D1D5DB"/>
                </a:solidFill>
                <a:latin typeface="Archivo"/>
                <a:ea typeface="Archivo"/>
                <a:cs typeface="Archivo"/>
                <a:sym typeface="Archivo"/>
              </a:rPr>
              <a:t>Right Hemisphere Stroke</a:t>
            </a:r>
            <a:endParaRPr b="1" sz="1700"/>
          </a:p>
        </p:txBody>
      </p:sp>
      <p:sp>
        <p:nvSpPr>
          <p:cNvPr id="105" name="Google Shape;105;p2"/>
          <p:cNvSpPr txBox="1"/>
          <p:nvPr/>
        </p:nvSpPr>
        <p:spPr>
          <a:xfrm>
            <a:off x="6572085" y="2047874"/>
            <a:ext cx="4629034" cy="914400"/>
          </a:xfrm>
          <a:prstGeom prst="rect">
            <a:avLst/>
          </a:prstGeom>
          <a:noFill/>
          <a:ln>
            <a:noFill/>
          </a:ln>
        </p:spPr>
        <p:txBody>
          <a:bodyPr anchorCtr="0" anchor="ctr" bIns="54850" lIns="73150" spcFirstLastPara="1" rIns="73150" wrap="square" tIns="54850">
            <a:spAutoFit/>
          </a:bodyPr>
          <a:lstStyle/>
          <a:p>
            <a:pPr indent="0" lvl="0" marL="0" marR="0" rtl="0" algn="l">
              <a:lnSpc>
                <a:spcPct val="108710"/>
              </a:lnSpc>
              <a:spcBef>
                <a:spcPts val="0"/>
              </a:spcBef>
              <a:spcAft>
                <a:spcPts val="0"/>
              </a:spcAft>
              <a:buNone/>
            </a:pPr>
            <a:r>
              <a:rPr b="1" i="0" lang="en-US" sz="5740" u="none" cap="none" strike="noStrike">
                <a:solidFill>
                  <a:srgbClr val="2DFF99"/>
                </a:solidFill>
                <a:latin typeface="BioRhyme"/>
                <a:ea typeface="BioRhyme"/>
                <a:cs typeface="BioRhyme"/>
                <a:sym typeface="BioRhyme"/>
              </a:rPr>
              <a:t>80%</a:t>
            </a:r>
            <a:endParaRPr/>
          </a:p>
        </p:txBody>
      </p:sp>
      <p:sp>
        <p:nvSpPr>
          <p:cNvPr id="106" name="Google Shape;106;p2"/>
          <p:cNvSpPr txBox="1"/>
          <p:nvPr/>
        </p:nvSpPr>
        <p:spPr>
          <a:xfrm>
            <a:off x="6572085" y="3076574"/>
            <a:ext cx="4629034" cy="285750"/>
          </a:xfrm>
          <a:prstGeom prst="rect">
            <a:avLst/>
          </a:prstGeom>
          <a:noFill/>
          <a:ln>
            <a:noFill/>
          </a:ln>
        </p:spPr>
        <p:txBody>
          <a:bodyPr anchorCtr="0" anchor="ctr" bIns="54850" lIns="73150" spcFirstLastPara="1" rIns="73150" wrap="square" tIns="54850">
            <a:spAutoFit/>
          </a:bodyPr>
          <a:lstStyle/>
          <a:p>
            <a:pPr indent="0" lvl="0" marL="0" marR="0" rtl="0" algn="l">
              <a:lnSpc>
                <a:spcPct val="148288"/>
              </a:lnSpc>
              <a:spcBef>
                <a:spcPts val="0"/>
              </a:spcBef>
              <a:spcAft>
                <a:spcPts val="0"/>
              </a:spcAft>
              <a:buNone/>
            </a:pPr>
            <a:r>
              <a:rPr b="0" i="0" lang="en-US" sz="1315" u="none" cap="none" strike="noStrike">
                <a:solidFill>
                  <a:srgbClr val="FFFFFF"/>
                </a:solidFill>
                <a:latin typeface="Archivo"/>
                <a:ea typeface="Archivo"/>
                <a:cs typeface="Archivo"/>
                <a:sym typeface="Archivo"/>
              </a:rPr>
              <a:t>show unilateral spatial neglect</a:t>
            </a:r>
            <a:endParaRPr/>
          </a:p>
        </p:txBody>
      </p:sp>
      <p:sp>
        <p:nvSpPr>
          <p:cNvPr id="107" name="Google Shape;107;p2"/>
          <p:cNvSpPr txBox="1"/>
          <p:nvPr/>
        </p:nvSpPr>
        <p:spPr>
          <a:xfrm>
            <a:off x="6572085" y="3476624"/>
            <a:ext cx="4629034" cy="190499"/>
          </a:xfrm>
          <a:prstGeom prst="rect">
            <a:avLst/>
          </a:prstGeom>
          <a:noFill/>
          <a:ln>
            <a:noFill/>
          </a:ln>
        </p:spPr>
        <p:txBody>
          <a:bodyPr anchorCtr="0" anchor="ctr" bIns="54850" lIns="73150" spcFirstLastPara="1" rIns="73150" wrap="square" tIns="54850">
            <a:spAutoFit/>
          </a:bodyPr>
          <a:lstStyle/>
          <a:p>
            <a:pPr indent="0" lvl="0" marL="0" marR="0" rtl="0" algn="l">
              <a:lnSpc>
                <a:spcPct val="155316"/>
              </a:lnSpc>
              <a:spcBef>
                <a:spcPts val="0"/>
              </a:spcBef>
              <a:spcAft>
                <a:spcPts val="0"/>
              </a:spcAft>
              <a:buNone/>
            </a:pPr>
            <a:r>
              <a:rPr b="0" i="0" lang="en-US" sz="837" u="none" cap="none" strike="noStrike">
                <a:solidFill>
                  <a:srgbClr val="9CA3AF"/>
                </a:solidFill>
                <a:latin typeface="Archivo"/>
                <a:ea typeface="Archivo"/>
                <a:cs typeface="Archivo"/>
                <a:sym typeface="Archivo"/>
              </a:rPr>
              <a:t>NCBI, 2021</a:t>
            </a:r>
            <a:endParaRPr/>
          </a:p>
        </p:txBody>
      </p:sp>
      <p:sp>
        <p:nvSpPr>
          <p:cNvPr id="108" name="Google Shape;108;p2"/>
          <p:cNvSpPr/>
          <p:nvPr/>
        </p:nvSpPr>
        <p:spPr>
          <a:xfrm>
            <a:off x="666733" y="4295774"/>
            <a:ext cx="3419389" cy="2105024"/>
          </a:xfrm>
          <a:prstGeom prst="roundRect">
            <a:avLst>
              <a:gd fmla="val 10859"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9" name="Google Shape;109;p2"/>
          <p:cNvPicPr preferRelativeResize="0"/>
          <p:nvPr/>
        </p:nvPicPr>
        <p:blipFill rotWithShape="1">
          <a:blip r:embed="rId5">
            <a:alphaModFix/>
          </a:blip>
          <a:srcRect b="0" l="0" r="0" t="0"/>
          <a:stretch/>
        </p:blipFill>
        <p:spPr>
          <a:xfrm>
            <a:off x="914377" y="4568065"/>
            <a:ext cx="266693" cy="217418"/>
          </a:xfrm>
          <a:prstGeom prst="rect">
            <a:avLst/>
          </a:prstGeom>
          <a:noFill/>
          <a:ln>
            <a:noFill/>
          </a:ln>
        </p:spPr>
      </p:pic>
      <p:sp>
        <p:nvSpPr>
          <p:cNvPr id="110" name="Google Shape;110;p2"/>
          <p:cNvSpPr txBox="1"/>
          <p:nvPr/>
        </p:nvSpPr>
        <p:spPr>
          <a:xfrm>
            <a:off x="1257274" y="4562475"/>
            <a:ext cx="2341800" cy="3042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1" i="0" lang="en-US" sz="1256" u="none" cap="none" strike="noStrike">
                <a:solidFill>
                  <a:srgbClr val="D1D5DB"/>
                </a:solidFill>
                <a:latin typeface="Archivo"/>
                <a:ea typeface="Archivo"/>
                <a:cs typeface="Archivo"/>
                <a:sym typeface="Archivo"/>
              </a:rPr>
              <a:t>Overall Incidence</a:t>
            </a:r>
            <a:endParaRPr b="1" sz="1700"/>
          </a:p>
        </p:txBody>
      </p:sp>
      <p:sp>
        <p:nvSpPr>
          <p:cNvPr id="111" name="Google Shape;111;p2"/>
          <p:cNvSpPr txBox="1"/>
          <p:nvPr/>
        </p:nvSpPr>
        <p:spPr>
          <a:xfrm>
            <a:off x="914377" y="4924424"/>
            <a:ext cx="2924101" cy="647699"/>
          </a:xfrm>
          <a:prstGeom prst="rect">
            <a:avLst/>
          </a:prstGeom>
          <a:noFill/>
          <a:ln>
            <a:noFill/>
          </a:ln>
        </p:spPr>
        <p:txBody>
          <a:bodyPr anchorCtr="0" anchor="ctr" bIns="54850" lIns="73150" spcFirstLastPara="1" rIns="73150" wrap="square" tIns="54850">
            <a:spAutoFit/>
          </a:bodyPr>
          <a:lstStyle/>
          <a:p>
            <a:pPr indent="0" lvl="0" marL="0" marR="0" rtl="0" algn="l">
              <a:lnSpc>
                <a:spcPct val="108706"/>
              </a:lnSpc>
              <a:spcBef>
                <a:spcPts val="0"/>
              </a:spcBef>
              <a:spcAft>
                <a:spcPts val="0"/>
              </a:spcAft>
              <a:buNone/>
            </a:pPr>
            <a:r>
              <a:rPr b="1" i="0" lang="en-US" sz="4066" u="none" cap="none" strike="noStrike">
                <a:solidFill>
                  <a:srgbClr val="2DFF99"/>
                </a:solidFill>
                <a:latin typeface="BioRhyme"/>
                <a:ea typeface="BioRhyme"/>
                <a:cs typeface="BioRhyme"/>
                <a:sym typeface="BioRhyme"/>
              </a:rPr>
              <a:t>38%</a:t>
            </a:r>
            <a:endParaRPr/>
          </a:p>
        </p:txBody>
      </p:sp>
      <p:sp>
        <p:nvSpPr>
          <p:cNvPr id="112" name="Google Shape;112;p2"/>
          <p:cNvSpPr txBox="1"/>
          <p:nvPr/>
        </p:nvSpPr>
        <p:spPr>
          <a:xfrm>
            <a:off x="914377" y="5648325"/>
            <a:ext cx="2924101" cy="238124"/>
          </a:xfrm>
          <a:prstGeom prst="rect">
            <a:avLst/>
          </a:prstGeom>
          <a:noFill/>
          <a:ln>
            <a:noFill/>
          </a:ln>
        </p:spPr>
        <p:txBody>
          <a:bodyPr anchorCtr="0" anchor="ctr" bIns="54850" lIns="73150" spcFirstLastPara="1" rIns="73150" wrap="square" tIns="54850">
            <a:spAutoFit/>
          </a:bodyPr>
          <a:lstStyle/>
          <a:p>
            <a:pPr indent="0" lvl="0" marL="0" marR="0" rtl="0" algn="l">
              <a:lnSpc>
                <a:spcPct val="144981"/>
              </a:lnSpc>
              <a:spcBef>
                <a:spcPts val="0"/>
              </a:spcBef>
              <a:spcAft>
                <a:spcPts val="0"/>
              </a:spcAft>
              <a:buNone/>
            </a:pPr>
            <a:r>
              <a:rPr b="0" i="0" lang="en-US" sz="1076" u="none" cap="none" strike="noStrike">
                <a:solidFill>
                  <a:srgbClr val="FFFFFF"/>
                </a:solidFill>
                <a:latin typeface="Archivo"/>
                <a:ea typeface="Archivo"/>
                <a:cs typeface="Archivo"/>
                <a:sym typeface="Archivo"/>
              </a:rPr>
              <a:t>visuospatial neglect post-stroke</a:t>
            </a:r>
            <a:endParaRPr/>
          </a:p>
        </p:txBody>
      </p:sp>
      <p:sp>
        <p:nvSpPr>
          <p:cNvPr id="113" name="Google Shape;113;p2"/>
          <p:cNvSpPr txBox="1"/>
          <p:nvPr/>
        </p:nvSpPr>
        <p:spPr>
          <a:xfrm>
            <a:off x="914377" y="5962650"/>
            <a:ext cx="2924101" cy="190499"/>
          </a:xfrm>
          <a:prstGeom prst="rect">
            <a:avLst/>
          </a:prstGeom>
          <a:noFill/>
          <a:ln>
            <a:noFill/>
          </a:ln>
        </p:spPr>
        <p:txBody>
          <a:bodyPr anchorCtr="0" anchor="ctr" bIns="54850" lIns="73150" spcFirstLastPara="1" rIns="73150" wrap="square" tIns="54850">
            <a:spAutoFit/>
          </a:bodyPr>
          <a:lstStyle/>
          <a:p>
            <a:pPr indent="0" lvl="0" marL="0" marR="0" rtl="0" algn="l">
              <a:lnSpc>
                <a:spcPct val="155316"/>
              </a:lnSpc>
              <a:spcBef>
                <a:spcPts val="0"/>
              </a:spcBef>
              <a:spcAft>
                <a:spcPts val="0"/>
              </a:spcAft>
              <a:buNone/>
            </a:pPr>
            <a:r>
              <a:rPr b="0" i="0" lang="en-US" sz="837" u="none" cap="none" strike="noStrike">
                <a:solidFill>
                  <a:srgbClr val="9CA3AF"/>
                </a:solidFill>
                <a:latin typeface="Archivo"/>
                <a:ea typeface="Archivo"/>
                <a:cs typeface="Archivo"/>
                <a:sym typeface="Archivo"/>
              </a:rPr>
              <a:t>AHA Journals, 2025</a:t>
            </a:r>
            <a:endParaRPr/>
          </a:p>
        </p:txBody>
      </p:sp>
      <p:sp>
        <p:nvSpPr>
          <p:cNvPr id="114" name="Google Shape;114;p2"/>
          <p:cNvSpPr/>
          <p:nvPr/>
        </p:nvSpPr>
        <p:spPr>
          <a:xfrm>
            <a:off x="4390915" y="4486275"/>
            <a:ext cx="7134046" cy="1724024"/>
          </a:xfrm>
          <a:prstGeom prst="roundRect">
            <a:avLst>
              <a:gd fmla="val 13259"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2"/>
          <p:cNvSpPr txBox="1"/>
          <p:nvPr/>
        </p:nvSpPr>
        <p:spPr>
          <a:xfrm>
            <a:off x="4733806" y="4791075"/>
            <a:ext cx="6486300" cy="1251600"/>
          </a:xfrm>
          <a:prstGeom prst="rect">
            <a:avLst/>
          </a:prstGeom>
          <a:noFill/>
          <a:ln>
            <a:noFill/>
          </a:ln>
        </p:spPr>
        <p:txBody>
          <a:bodyPr anchorCtr="0" anchor="ctr" bIns="54850" lIns="73150" spcFirstLastPara="1" rIns="73150" wrap="square" tIns="54850">
            <a:spAutoFit/>
          </a:bodyPr>
          <a:lstStyle/>
          <a:p>
            <a:pPr indent="0" lvl="0" marL="0" marR="0" rtl="0" algn="l">
              <a:lnSpc>
                <a:spcPct val="176655"/>
              </a:lnSpc>
              <a:spcBef>
                <a:spcPts val="0"/>
              </a:spcBef>
              <a:spcAft>
                <a:spcPts val="0"/>
              </a:spcAft>
              <a:buNone/>
            </a:pPr>
            <a:r>
              <a:rPr b="1" i="0" lang="en-US" sz="1635" u="none" cap="none" strike="noStrike">
                <a:solidFill>
                  <a:schemeClr val="dk1"/>
                </a:solidFill>
                <a:latin typeface="Archivo"/>
                <a:ea typeface="Archivo"/>
                <a:cs typeface="Archivo"/>
                <a:sym typeface="Archivo"/>
              </a:rPr>
              <a:t>These patients struggle with daily activities, face increased fall risks, and experience delayed recovery without targeted visual rehabilitation.</a:t>
            </a:r>
            <a:endParaRPr sz="1600">
              <a:solidFill>
                <a:schemeClr val="dk1"/>
              </a:solidFill>
            </a:endParaRPr>
          </a:p>
        </p:txBody>
      </p:sp>
      <p:sp>
        <p:nvSpPr>
          <p:cNvPr id="116" name="Google Shape;116;p2"/>
          <p:cNvSpPr/>
          <p:nvPr/>
        </p:nvSpPr>
        <p:spPr>
          <a:xfrm>
            <a:off x="0" y="6858000"/>
            <a:ext cx="12191695" cy="38100"/>
          </a:xfrm>
          <a:prstGeom prst="rect">
            <a:avLst/>
          </a:prstGeom>
          <a:gradFill>
            <a:gsLst>
              <a:gs pos="0">
                <a:srgbClr val="000000">
                  <a:alpha val="0"/>
                </a:srgbClr>
              </a:gs>
              <a:gs pos="50000">
                <a:srgbClr val="2DFF99"/>
              </a:gs>
              <a:gs pos="100000">
                <a:srgbClr val="000000">
                  <a:alpha val="0"/>
                </a:srgbClr>
              </a:gs>
            </a:gsLst>
            <a:lin ang="108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3328"/>
        </a:solidFill>
      </p:bgPr>
    </p:bg>
    <p:spTree>
      <p:nvGrpSpPr>
        <p:cNvPr id="120" name="Shape 120"/>
        <p:cNvGrpSpPr/>
        <p:nvPr/>
      </p:nvGrpSpPr>
      <p:grpSpPr>
        <a:xfrm>
          <a:off x="0" y="0"/>
          <a:ext cx="0" cy="0"/>
          <a:chOff x="0" y="0"/>
          <a:chExt cx="0" cy="0"/>
        </a:xfrm>
      </p:grpSpPr>
      <p:sp>
        <p:nvSpPr>
          <p:cNvPr id="121" name="Google Shape;121;p4"/>
          <p:cNvSpPr txBox="1"/>
          <p:nvPr/>
        </p:nvSpPr>
        <p:spPr>
          <a:xfrm>
            <a:off x="666717" y="114300"/>
            <a:ext cx="9175500" cy="580200"/>
          </a:xfrm>
          <a:prstGeom prst="rect">
            <a:avLst/>
          </a:prstGeom>
          <a:noFill/>
          <a:ln>
            <a:noFill/>
          </a:ln>
        </p:spPr>
        <p:txBody>
          <a:bodyPr anchorCtr="0" anchor="ctr" bIns="54850" lIns="73150" spcFirstLastPara="1" rIns="73150" wrap="square" tIns="54850">
            <a:spAutoFit/>
          </a:bodyPr>
          <a:lstStyle/>
          <a:p>
            <a:pPr indent="0" lvl="0" marL="0" marR="0" rtl="0" algn="l">
              <a:lnSpc>
                <a:spcPct val="163043"/>
              </a:lnSpc>
              <a:spcBef>
                <a:spcPts val="0"/>
              </a:spcBef>
              <a:spcAft>
                <a:spcPts val="0"/>
              </a:spcAft>
              <a:buNone/>
            </a:pPr>
            <a:r>
              <a:rPr b="1" i="0" lang="en-US" sz="3050" u="none" cap="none" strike="noStrike">
                <a:solidFill>
                  <a:srgbClr val="FFFFFF"/>
                </a:solidFill>
                <a:latin typeface="BioRhyme"/>
                <a:ea typeface="BioRhyme"/>
                <a:cs typeface="BioRhyme"/>
                <a:sym typeface="BioRhyme"/>
              </a:rPr>
              <a:t> Introducing </a:t>
            </a:r>
            <a:r>
              <a:rPr b="1" i="0" lang="en-US" sz="3050" u="none" cap="none" strike="noStrike">
                <a:solidFill>
                  <a:srgbClr val="2DFF99"/>
                </a:solidFill>
                <a:latin typeface="BioRhyme"/>
                <a:ea typeface="BioRhyme"/>
                <a:cs typeface="BioRhyme"/>
                <a:sym typeface="BioRhyme"/>
              </a:rPr>
              <a:t>Motive AR</a:t>
            </a:r>
            <a:r>
              <a:rPr b="1" i="0" lang="en-US" sz="3050" u="none" cap="none" strike="noStrike">
                <a:solidFill>
                  <a:srgbClr val="FFFFFF"/>
                </a:solidFill>
                <a:latin typeface="BioRhyme"/>
                <a:ea typeface="BioRhyme"/>
                <a:cs typeface="BioRhyme"/>
                <a:sym typeface="BioRhyme"/>
              </a:rPr>
              <a:t> </a:t>
            </a:r>
            <a:endParaRPr sz="3050"/>
          </a:p>
        </p:txBody>
      </p:sp>
      <p:sp>
        <p:nvSpPr>
          <p:cNvPr id="122" name="Google Shape;122;p4"/>
          <p:cNvSpPr/>
          <p:nvPr/>
        </p:nvSpPr>
        <p:spPr>
          <a:xfrm>
            <a:off x="457188" y="1333500"/>
            <a:ext cx="4571885" cy="4952999"/>
          </a:xfrm>
          <a:prstGeom prst="roundRect">
            <a:avLst>
              <a:gd fmla="val 16667" name="adj"/>
            </a:avLst>
          </a:prstGeom>
          <a:blipFill rotWithShape="1">
            <a:blip r:embed="rId3">
              <a:alphaModFix/>
            </a:blip>
            <a:stretch>
              <a:fillRect b="0" l="0" r="0" t="0"/>
            </a:stretch>
          </a:blip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4"/>
          <p:cNvSpPr/>
          <p:nvPr/>
        </p:nvSpPr>
        <p:spPr>
          <a:xfrm>
            <a:off x="685782" y="1562100"/>
            <a:ext cx="1943051" cy="342900"/>
          </a:xfrm>
          <a:prstGeom prst="roundRect">
            <a:avLst>
              <a:gd fmla="val 22222"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4"/>
          <p:cNvSpPr txBox="1"/>
          <p:nvPr/>
        </p:nvSpPr>
        <p:spPr>
          <a:xfrm>
            <a:off x="685782" y="1562100"/>
            <a:ext cx="1943051" cy="342900"/>
          </a:xfrm>
          <a:prstGeom prst="rect">
            <a:avLst/>
          </a:prstGeom>
          <a:noFill/>
          <a:ln>
            <a:noFill/>
          </a:ln>
        </p:spPr>
        <p:txBody>
          <a:bodyPr anchorCtr="0" anchor="ctr" bIns="54850" lIns="73150" spcFirstLastPara="1" rIns="73150" wrap="square" tIns="54850">
            <a:spAutoFit/>
          </a:bodyPr>
          <a:lstStyle/>
          <a:p>
            <a:pPr indent="0" lvl="0" marL="0" marR="0" rtl="0" algn="l">
              <a:lnSpc>
                <a:spcPct val="155316"/>
              </a:lnSpc>
              <a:spcBef>
                <a:spcPts val="0"/>
              </a:spcBef>
              <a:spcAft>
                <a:spcPts val="0"/>
              </a:spcAft>
              <a:buNone/>
            </a:pPr>
            <a:r>
              <a:rPr b="1" i="0" lang="en-US" sz="837" u="none" cap="none" strike="noStrike">
                <a:solidFill>
                  <a:srgbClr val="193328"/>
                </a:solidFill>
                <a:latin typeface="Archivo"/>
                <a:ea typeface="Archivo"/>
                <a:cs typeface="Archivo"/>
                <a:sym typeface="Archivo"/>
              </a:rPr>
              <a:t>INNOVATIVE THERAPY</a:t>
            </a:r>
            <a:endParaRPr/>
          </a:p>
        </p:txBody>
      </p:sp>
      <p:sp>
        <p:nvSpPr>
          <p:cNvPr id="125" name="Google Shape;125;p4"/>
          <p:cNvSpPr txBox="1"/>
          <p:nvPr/>
        </p:nvSpPr>
        <p:spPr>
          <a:xfrm>
            <a:off x="5791055" y="1523999"/>
            <a:ext cx="5733906" cy="257175"/>
          </a:xfrm>
          <a:prstGeom prst="rect">
            <a:avLst/>
          </a:prstGeom>
          <a:noFill/>
          <a:ln>
            <a:noFill/>
          </a:ln>
        </p:spPr>
        <p:txBody>
          <a:bodyPr anchorCtr="0" anchor="ctr" bIns="54850" lIns="73150" spcFirstLastPara="1" rIns="73150" wrap="square" tIns="54850">
            <a:spAutoFit/>
          </a:bodyPr>
          <a:lstStyle/>
          <a:p>
            <a:pPr indent="0" lvl="0" marL="0" marR="0" rtl="0" algn="l">
              <a:lnSpc>
                <a:spcPct val="163104"/>
              </a:lnSpc>
              <a:spcBef>
                <a:spcPts val="0"/>
              </a:spcBef>
              <a:spcAft>
                <a:spcPts val="0"/>
              </a:spcAft>
              <a:buNone/>
            </a:pPr>
            <a:r>
              <a:rPr b="0" i="0" lang="en-US" sz="1076" u="none" cap="none" strike="noStrike">
                <a:solidFill>
                  <a:srgbClr val="D1D5DB"/>
                </a:solidFill>
                <a:latin typeface="Archivo"/>
                <a:ea typeface="Archivo"/>
                <a:cs typeface="Archivo"/>
                <a:sym typeface="Archivo"/>
              </a:rPr>
              <a:t>Adaptive Visual Therapy System</a:t>
            </a:r>
            <a:endParaRPr/>
          </a:p>
        </p:txBody>
      </p:sp>
      <p:sp>
        <p:nvSpPr>
          <p:cNvPr id="126" name="Google Shape;126;p4"/>
          <p:cNvSpPr txBox="1"/>
          <p:nvPr/>
        </p:nvSpPr>
        <p:spPr>
          <a:xfrm>
            <a:off x="5791055" y="1847849"/>
            <a:ext cx="5733906" cy="666750"/>
          </a:xfrm>
          <a:prstGeom prst="rect">
            <a:avLst/>
          </a:prstGeom>
          <a:noFill/>
          <a:ln>
            <a:noFill/>
          </a:ln>
        </p:spPr>
        <p:txBody>
          <a:bodyPr anchorCtr="0" anchor="ctr" bIns="54850" lIns="73150" spcFirstLastPara="1" rIns="73150" wrap="square" tIns="54850">
            <a:spAutoFit/>
          </a:bodyPr>
          <a:lstStyle/>
          <a:p>
            <a:pPr indent="0" lvl="0" marL="0" marR="0" rtl="0" algn="l">
              <a:lnSpc>
                <a:spcPct val="135902"/>
              </a:lnSpc>
              <a:spcBef>
                <a:spcPts val="0"/>
              </a:spcBef>
              <a:spcAft>
                <a:spcPts val="0"/>
              </a:spcAft>
              <a:buNone/>
            </a:pPr>
            <a:r>
              <a:rPr b="1" i="0" lang="en-US" sz="1674" u="none" cap="none" strike="noStrike">
                <a:solidFill>
                  <a:srgbClr val="FFFFFF"/>
                </a:solidFill>
                <a:latin typeface="Archivo"/>
                <a:ea typeface="Archivo"/>
                <a:cs typeface="Archivo"/>
                <a:sym typeface="Archivo"/>
              </a:rPr>
              <a:t> AR-powered rehabilitation that </a:t>
            </a:r>
            <a:r>
              <a:rPr b="1" i="0" lang="en-US" sz="1674" u="none" cap="none" strike="noStrike">
                <a:solidFill>
                  <a:srgbClr val="2DFF99"/>
                </a:solidFill>
                <a:latin typeface="Archivo"/>
                <a:ea typeface="Archivo"/>
                <a:cs typeface="Archivo"/>
                <a:sym typeface="Archivo"/>
              </a:rPr>
              <a:t>forces engagement</a:t>
            </a:r>
            <a:r>
              <a:rPr b="1" i="0" lang="en-US" sz="1674" u="none" cap="none" strike="noStrike">
                <a:solidFill>
                  <a:srgbClr val="FFFFFF"/>
                </a:solidFill>
                <a:latin typeface="Archivo"/>
                <a:ea typeface="Archivo"/>
                <a:cs typeface="Archivo"/>
                <a:sym typeface="Archivo"/>
              </a:rPr>
              <a:t> and accelerates recovery </a:t>
            </a:r>
            <a:endParaRPr/>
          </a:p>
        </p:txBody>
      </p:sp>
      <p:sp>
        <p:nvSpPr>
          <p:cNvPr id="127" name="Google Shape;127;p4"/>
          <p:cNvSpPr/>
          <p:nvPr/>
        </p:nvSpPr>
        <p:spPr>
          <a:xfrm>
            <a:off x="5791055" y="2819399"/>
            <a:ext cx="5733906" cy="1152524"/>
          </a:xfrm>
          <a:prstGeom prst="roundRect">
            <a:avLst>
              <a:gd fmla="val 19834"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4"/>
          <p:cNvSpPr/>
          <p:nvPr/>
        </p:nvSpPr>
        <p:spPr>
          <a:xfrm>
            <a:off x="6000599" y="3028950"/>
            <a:ext cx="533386" cy="600075"/>
          </a:xfrm>
          <a:prstGeom prst="roundRect">
            <a:avLst>
              <a:gd fmla="val 35710714"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29" name="Google Shape;129;p4"/>
          <p:cNvPicPr preferRelativeResize="0"/>
          <p:nvPr/>
        </p:nvPicPr>
        <p:blipFill rotWithShape="1">
          <a:blip r:embed="rId4">
            <a:alphaModFix/>
          </a:blip>
          <a:srcRect b="0" l="0" r="0" t="0"/>
          <a:stretch/>
        </p:blipFill>
        <p:spPr>
          <a:xfrm>
            <a:off x="6114897" y="3196003"/>
            <a:ext cx="304792" cy="199292"/>
          </a:xfrm>
          <a:prstGeom prst="rect">
            <a:avLst/>
          </a:prstGeom>
          <a:noFill/>
          <a:ln>
            <a:noFill/>
          </a:ln>
        </p:spPr>
      </p:pic>
      <p:sp>
        <p:nvSpPr>
          <p:cNvPr id="130" name="Google Shape;130;p4"/>
          <p:cNvSpPr txBox="1"/>
          <p:nvPr/>
        </p:nvSpPr>
        <p:spPr>
          <a:xfrm>
            <a:off x="6686382" y="3028950"/>
            <a:ext cx="4629034" cy="342900"/>
          </a:xfrm>
          <a:prstGeom prst="rect">
            <a:avLst/>
          </a:prstGeom>
          <a:noFill/>
          <a:ln>
            <a:noFill/>
          </a:ln>
        </p:spPr>
        <p:txBody>
          <a:bodyPr anchorCtr="0" anchor="ctr" bIns="54850" lIns="73150" spcFirstLastPara="1" rIns="73150" wrap="square" tIns="54850">
            <a:spAutoFit/>
          </a:bodyPr>
          <a:lstStyle/>
          <a:p>
            <a:pPr indent="0" lvl="0" marL="0" marR="0" rtl="0" algn="l">
              <a:lnSpc>
                <a:spcPct val="163066"/>
              </a:lnSpc>
              <a:spcBef>
                <a:spcPts val="0"/>
              </a:spcBef>
              <a:spcAft>
                <a:spcPts val="0"/>
              </a:spcAft>
              <a:buNone/>
            </a:pPr>
            <a:r>
              <a:rPr b="1" i="0" lang="en-US" sz="1435" u="none" cap="none" strike="noStrike">
                <a:solidFill>
                  <a:srgbClr val="FFFFFF"/>
                </a:solidFill>
                <a:latin typeface="BioRhyme"/>
                <a:ea typeface="BioRhyme"/>
                <a:cs typeface="BioRhyme"/>
                <a:sym typeface="BioRhyme"/>
              </a:rPr>
              <a:t>Peripheral Shrouding</a:t>
            </a:r>
            <a:endParaRPr/>
          </a:p>
        </p:txBody>
      </p:sp>
      <p:sp>
        <p:nvSpPr>
          <p:cNvPr id="131" name="Google Shape;131;p4"/>
          <p:cNvSpPr txBox="1"/>
          <p:nvPr/>
        </p:nvSpPr>
        <p:spPr>
          <a:xfrm>
            <a:off x="6686382" y="3448049"/>
            <a:ext cx="4629034" cy="314325"/>
          </a:xfrm>
          <a:prstGeom prst="rect">
            <a:avLst/>
          </a:prstGeom>
          <a:noFill/>
          <a:ln>
            <a:noFill/>
          </a:ln>
        </p:spPr>
        <p:txBody>
          <a:bodyPr anchorCtr="0" anchor="ctr" bIns="54850" lIns="73150" spcFirstLastPara="1" rIns="73150" wrap="square" tIns="54850">
            <a:spAutoFit/>
          </a:bodyPr>
          <a:lstStyle/>
          <a:p>
            <a:pPr indent="0" lvl="0" marL="0" marR="0" rtl="0" algn="l">
              <a:lnSpc>
                <a:spcPct val="173913"/>
              </a:lnSpc>
              <a:spcBef>
                <a:spcPts val="0"/>
              </a:spcBef>
              <a:spcAft>
                <a:spcPts val="0"/>
              </a:spcAft>
              <a:buNone/>
            </a:pPr>
            <a:r>
              <a:rPr b="0" i="0" lang="en-US" sz="1196" u="none" cap="none" strike="noStrike">
                <a:solidFill>
                  <a:srgbClr val="D1D5DB"/>
                </a:solidFill>
                <a:latin typeface="Archivo"/>
                <a:ea typeface="Archivo"/>
                <a:cs typeface="Archivo"/>
                <a:sym typeface="Archivo"/>
              </a:rPr>
              <a:t> AR spectacles modify visual perception in </a:t>
            </a:r>
            <a:r>
              <a:rPr b="1" i="0" lang="en-US" sz="1196" u="none" cap="none" strike="noStrike">
                <a:solidFill>
                  <a:srgbClr val="2DFF99"/>
                </a:solidFill>
                <a:latin typeface="Archivo"/>
                <a:ea typeface="Archivo"/>
                <a:cs typeface="Archivo"/>
                <a:sym typeface="Archivo"/>
              </a:rPr>
              <a:t>real-time</a:t>
            </a:r>
            <a:r>
              <a:rPr b="0" i="0" lang="en-US" sz="1196" u="none" cap="none" strike="noStrike">
                <a:solidFill>
                  <a:srgbClr val="D1D5DB"/>
                </a:solidFill>
                <a:latin typeface="Archivo"/>
                <a:ea typeface="Archivo"/>
                <a:cs typeface="Archivo"/>
                <a:sym typeface="Archivo"/>
              </a:rPr>
              <a:t> </a:t>
            </a:r>
            <a:endParaRPr/>
          </a:p>
        </p:txBody>
      </p:sp>
      <p:sp>
        <p:nvSpPr>
          <p:cNvPr id="132" name="Google Shape;132;p4"/>
          <p:cNvSpPr/>
          <p:nvPr/>
        </p:nvSpPr>
        <p:spPr>
          <a:xfrm>
            <a:off x="5791055" y="4162424"/>
            <a:ext cx="5733906" cy="1152524"/>
          </a:xfrm>
          <a:prstGeom prst="roundRect">
            <a:avLst>
              <a:gd fmla="val 19834"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4"/>
          <p:cNvSpPr/>
          <p:nvPr/>
        </p:nvSpPr>
        <p:spPr>
          <a:xfrm>
            <a:off x="6000599" y="4371975"/>
            <a:ext cx="533386" cy="600075"/>
          </a:xfrm>
          <a:prstGeom prst="roundRect">
            <a:avLst>
              <a:gd fmla="val 35710714"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4" name="Google Shape;134;p4"/>
          <p:cNvPicPr preferRelativeResize="0"/>
          <p:nvPr/>
        </p:nvPicPr>
        <p:blipFill rotWithShape="1">
          <a:blip r:embed="rId5">
            <a:alphaModFix/>
          </a:blip>
          <a:srcRect b="0" l="0" r="0" t="0"/>
          <a:stretch/>
        </p:blipFill>
        <p:spPr>
          <a:xfrm>
            <a:off x="6132668" y="4546760"/>
            <a:ext cx="229698" cy="304800"/>
          </a:xfrm>
          <a:prstGeom prst="rect">
            <a:avLst/>
          </a:prstGeom>
          <a:noFill/>
          <a:ln>
            <a:noFill/>
          </a:ln>
        </p:spPr>
      </p:pic>
      <p:sp>
        <p:nvSpPr>
          <p:cNvPr id="135" name="Google Shape;135;p4"/>
          <p:cNvSpPr txBox="1"/>
          <p:nvPr/>
        </p:nvSpPr>
        <p:spPr>
          <a:xfrm>
            <a:off x="6686382" y="4371975"/>
            <a:ext cx="4629034" cy="342900"/>
          </a:xfrm>
          <a:prstGeom prst="rect">
            <a:avLst/>
          </a:prstGeom>
          <a:noFill/>
          <a:ln>
            <a:noFill/>
          </a:ln>
        </p:spPr>
        <p:txBody>
          <a:bodyPr anchorCtr="0" anchor="ctr" bIns="54850" lIns="73150" spcFirstLastPara="1" rIns="73150" wrap="square" tIns="54850">
            <a:spAutoFit/>
          </a:bodyPr>
          <a:lstStyle/>
          <a:p>
            <a:pPr indent="0" lvl="0" marL="0" marR="0" rtl="0" algn="l">
              <a:lnSpc>
                <a:spcPct val="163066"/>
              </a:lnSpc>
              <a:spcBef>
                <a:spcPts val="0"/>
              </a:spcBef>
              <a:spcAft>
                <a:spcPts val="0"/>
              </a:spcAft>
              <a:buNone/>
            </a:pPr>
            <a:r>
              <a:rPr b="1" i="0" lang="en-US" sz="1435" u="none" cap="none" strike="noStrike">
                <a:solidFill>
                  <a:srgbClr val="FFFFFF"/>
                </a:solidFill>
                <a:latin typeface="BioRhyme"/>
                <a:ea typeface="BioRhyme"/>
                <a:cs typeface="BioRhyme"/>
                <a:sym typeface="BioRhyme"/>
              </a:rPr>
              <a:t>Forced Action Therapy</a:t>
            </a:r>
            <a:endParaRPr/>
          </a:p>
        </p:txBody>
      </p:sp>
      <p:sp>
        <p:nvSpPr>
          <p:cNvPr id="136" name="Google Shape;136;p4"/>
          <p:cNvSpPr txBox="1"/>
          <p:nvPr/>
        </p:nvSpPr>
        <p:spPr>
          <a:xfrm>
            <a:off x="6686382" y="4791075"/>
            <a:ext cx="4629000" cy="294900"/>
          </a:xfrm>
          <a:prstGeom prst="rect">
            <a:avLst/>
          </a:prstGeom>
          <a:noFill/>
          <a:ln>
            <a:noFill/>
          </a:ln>
        </p:spPr>
        <p:txBody>
          <a:bodyPr anchorCtr="0" anchor="ctr" bIns="54850" lIns="73150" spcFirstLastPara="1" rIns="73150" wrap="square" tIns="54850">
            <a:spAutoFit/>
          </a:bodyPr>
          <a:lstStyle/>
          <a:p>
            <a:pPr indent="0" lvl="0" marL="0" marR="0" rtl="0" algn="l">
              <a:lnSpc>
                <a:spcPct val="173913"/>
              </a:lnSpc>
              <a:spcBef>
                <a:spcPts val="0"/>
              </a:spcBef>
              <a:spcAft>
                <a:spcPts val="0"/>
              </a:spcAft>
              <a:buNone/>
            </a:pPr>
            <a:r>
              <a:rPr b="0" i="0" lang="en-US" sz="1196" u="none" cap="none" strike="noStrike">
                <a:solidFill>
                  <a:srgbClr val="D1D5DB"/>
                </a:solidFill>
                <a:latin typeface="Archivo"/>
                <a:ea typeface="Archivo"/>
                <a:cs typeface="Archivo"/>
                <a:sym typeface="Archivo"/>
              </a:rPr>
              <a:t> Patients </a:t>
            </a:r>
            <a:r>
              <a:rPr b="1" i="0" lang="en-US" sz="1196" u="none" cap="none" strike="noStrike">
                <a:solidFill>
                  <a:srgbClr val="2DFF99"/>
                </a:solidFill>
                <a:latin typeface="Archivo"/>
                <a:ea typeface="Archivo"/>
                <a:cs typeface="Archivo"/>
                <a:sym typeface="Archivo"/>
              </a:rPr>
              <a:t>actively engage</a:t>
            </a:r>
            <a:r>
              <a:rPr b="0" i="0" lang="en-US" sz="1196" u="none" cap="none" strike="noStrike">
                <a:solidFill>
                  <a:srgbClr val="D1D5DB"/>
                </a:solidFill>
                <a:latin typeface="Archivo"/>
                <a:ea typeface="Archivo"/>
                <a:cs typeface="Archivo"/>
                <a:sym typeface="Archivo"/>
              </a:rPr>
              <a:t> to restore </a:t>
            </a:r>
            <a:r>
              <a:rPr lang="en-US" sz="1196">
                <a:solidFill>
                  <a:srgbClr val="D1D5DB"/>
                </a:solidFill>
                <a:latin typeface="Archivo"/>
                <a:ea typeface="Archivo"/>
                <a:cs typeface="Archivo"/>
                <a:sym typeface="Archivo"/>
              </a:rPr>
              <a:t>motion</a:t>
            </a:r>
            <a:r>
              <a:rPr b="0" i="0" lang="en-US" sz="1196" u="none" cap="none" strike="noStrike">
                <a:solidFill>
                  <a:srgbClr val="D1D5DB"/>
                </a:solidFill>
                <a:latin typeface="Archivo"/>
                <a:ea typeface="Archivo"/>
                <a:cs typeface="Archivo"/>
                <a:sym typeface="Archivo"/>
              </a:rPr>
              <a:t> </a:t>
            </a:r>
            <a:endParaRPr/>
          </a:p>
        </p:txBody>
      </p:sp>
      <p:pic>
        <p:nvPicPr>
          <p:cNvPr descr="image.png" id="137" name="Google Shape;137;p4"/>
          <p:cNvPicPr preferRelativeResize="0"/>
          <p:nvPr/>
        </p:nvPicPr>
        <p:blipFill rotWithShape="1">
          <a:blip r:embed="rId6">
            <a:alphaModFix/>
          </a:blip>
          <a:srcRect b="0" l="0" r="0" t="0"/>
          <a:stretch/>
        </p:blipFill>
        <p:spPr>
          <a:xfrm>
            <a:off x="5791055" y="5878830"/>
            <a:ext cx="228594" cy="205739"/>
          </a:xfrm>
          <a:prstGeom prst="rect">
            <a:avLst/>
          </a:prstGeom>
          <a:noFill/>
          <a:ln>
            <a:noFill/>
          </a:ln>
        </p:spPr>
      </p:pic>
      <p:sp>
        <p:nvSpPr>
          <p:cNvPr id="138" name="Google Shape;138;p4"/>
          <p:cNvSpPr txBox="1"/>
          <p:nvPr/>
        </p:nvSpPr>
        <p:spPr>
          <a:xfrm>
            <a:off x="6133946" y="5848350"/>
            <a:ext cx="4867153" cy="257175"/>
          </a:xfrm>
          <a:prstGeom prst="rect">
            <a:avLst/>
          </a:prstGeom>
          <a:noFill/>
          <a:ln>
            <a:noFill/>
          </a:ln>
        </p:spPr>
        <p:txBody>
          <a:bodyPr anchorCtr="0" anchor="ctr" bIns="54850" lIns="73150" spcFirstLastPara="1" rIns="73150" wrap="square" tIns="54850">
            <a:spAutoFit/>
          </a:bodyPr>
          <a:lstStyle/>
          <a:p>
            <a:pPr indent="0" lvl="0" marL="0" marR="0" rtl="0" algn="l">
              <a:lnSpc>
                <a:spcPct val="163104"/>
              </a:lnSpc>
              <a:spcBef>
                <a:spcPts val="0"/>
              </a:spcBef>
              <a:spcAft>
                <a:spcPts val="0"/>
              </a:spcAft>
              <a:buNone/>
            </a:pPr>
            <a:r>
              <a:rPr b="0" i="0" lang="en-US" sz="1076" u="none" cap="none" strike="noStrike">
                <a:solidFill>
                  <a:srgbClr val="D1D5DB"/>
                </a:solidFill>
                <a:latin typeface="Archivo"/>
                <a:ea typeface="Archivo"/>
                <a:cs typeface="Archivo"/>
                <a:sym typeface="Archivo"/>
              </a:rPr>
              <a:t> </a:t>
            </a:r>
            <a:r>
              <a:rPr b="1" i="0" lang="en-US" sz="1076" u="none" cap="none" strike="noStrike">
                <a:solidFill>
                  <a:srgbClr val="2DFF99"/>
                </a:solidFill>
                <a:latin typeface="Archivo"/>
                <a:ea typeface="Archivo"/>
                <a:cs typeface="Archivo"/>
                <a:sym typeface="Archivo"/>
              </a:rPr>
              <a:t>Neuroscience-backed</a:t>
            </a:r>
            <a:r>
              <a:rPr b="0" i="0" lang="en-US" sz="1076" u="none" cap="none" strike="noStrike">
                <a:solidFill>
                  <a:srgbClr val="D1D5DB"/>
                </a:solidFill>
                <a:latin typeface="Archivo"/>
                <a:ea typeface="Archivo"/>
                <a:cs typeface="Archivo"/>
                <a:sym typeface="Archivo"/>
              </a:rPr>
              <a:t> approach to visual attention rehabilitation </a:t>
            </a:r>
            <a:endParaRPr/>
          </a:p>
        </p:txBody>
      </p:sp>
      <p:sp>
        <p:nvSpPr>
          <p:cNvPr id="139" name="Google Shape;139;p4"/>
          <p:cNvSpPr/>
          <p:nvPr/>
        </p:nvSpPr>
        <p:spPr>
          <a:xfrm>
            <a:off x="0" y="6819900"/>
            <a:ext cx="12191695" cy="38100"/>
          </a:xfrm>
          <a:prstGeom prst="rect">
            <a:avLst/>
          </a:prstGeom>
          <a:gradFill>
            <a:gsLst>
              <a:gs pos="0">
                <a:srgbClr val="000000">
                  <a:alpha val="0"/>
                </a:srgbClr>
              </a:gs>
              <a:gs pos="50000">
                <a:srgbClr val="2DFF99"/>
              </a:gs>
              <a:gs pos="100000">
                <a:srgbClr val="000000">
                  <a:alpha val="0"/>
                </a:srgbClr>
              </a:gs>
            </a:gsLst>
            <a:lin ang="108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3328"/>
        </a:solidFill>
      </p:bgPr>
    </p:bg>
    <p:spTree>
      <p:nvGrpSpPr>
        <p:cNvPr id="143" name="Shape 143"/>
        <p:cNvGrpSpPr/>
        <p:nvPr/>
      </p:nvGrpSpPr>
      <p:grpSpPr>
        <a:xfrm>
          <a:off x="0" y="0"/>
          <a:ext cx="0" cy="0"/>
          <a:chOff x="0" y="0"/>
          <a:chExt cx="0" cy="0"/>
        </a:xfrm>
      </p:grpSpPr>
      <p:sp>
        <p:nvSpPr>
          <p:cNvPr id="144" name="Google Shape;144;p5"/>
          <p:cNvSpPr txBox="1"/>
          <p:nvPr/>
        </p:nvSpPr>
        <p:spPr>
          <a:xfrm>
            <a:off x="666718" y="114300"/>
            <a:ext cx="5924400" cy="580200"/>
          </a:xfrm>
          <a:prstGeom prst="rect">
            <a:avLst/>
          </a:prstGeom>
          <a:noFill/>
          <a:ln>
            <a:noFill/>
          </a:ln>
        </p:spPr>
        <p:txBody>
          <a:bodyPr anchorCtr="0" anchor="ctr" bIns="54850" lIns="73150" spcFirstLastPara="1" rIns="73150" wrap="square" tIns="54850">
            <a:spAutoFit/>
          </a:bodyPr>
          <a:lstStyle/>
          <a:p>
            <a:pPr indent="0" lvl="0" marL="0" marR="0" rtl="0" algn="l">
              <a:lnSpc>
                <a:spcPct val="163043"/>
              </a:lnSpc>
              <a:spcBef>
                <a:spcPts val="0"/>
              </a:spcBef>
              <a:spcAft>
                <a:spcPts val="0"/>
              </a:spcAft>
              <a:buNone/>
            </a:pPr>
            <a:r>
              <a:rPr b="1" i="0" lang="en-US" sz="3050" u="none" cap="none" strike="noStrike">
                <a:solidFill>
                  <a:srgbClr val="FFFFFF"/>
                </a:solidFill>
                <a:latin typeface="BioRhyme"/>
                <a:ea typeface="BioRhyme"/>
                <a:cs typeface="BioRhyme"/>
                <a:sym typeface="BioRhyme"/>
              </a:rPr>
              <a:t> The </a:t>
            </a:r>
            <a:r>
              <a:rPr b="1" i="0" lang="en-US" sz="3050" u="none" cap="none" strike="noStrike">
                <a:solidFill>
                  <a:srgbClr val="2DFF99"/>
                </a:solidFill>
                <a:latin typeface="BioRhyme"/>
                <a:ea typeface="BioRhyme"/>
                <a:cs typeface="BioRhyme"/>
                <a:sym typeface="BioRhyme"/>
              </a:rPr>
              <a:t>Mechanism</a:t>
            </a:r>
            <a:r>
              <a:rPr b="1" i="0" lang="en-US" sz="3050" u="none" cap="none" strike="noStrike">
                <a:solidFill>
                  <a:srgbClr val="FFFFFF"/>
                </a:solidFill>
                <a:latin typeface="BioRhyme"/>
                <a:ea typeface="BioRhyme"/>
                <a:cs typeface="BioRhyme"/>
                <a:sym typeface="BioRhyme"/>
              </a:rPr>
              <a:t> </a:t>
            </a:r>
            <a:endParaRPr sz="3050"/>
          </a:p>
        </p:txBody>
      </p:sp>
      <p:sp>
        <p:nvSpPr>
          <p:cNvPr id="145" name="Google Shape;145;p5"/>
          <p:cNvSpPr/>
          <p:nvPr/>
        </p:nvSpPr>
        <p:spPr>
          <a:xfrm>
            <a:off x="666725" y="1524000"/>
            <a:ext cx="2809800" cy="4648200"/>
          </a:xfrm>
          <a:prstGeom prst="roundRect">
            <a:avLst>
              <a:gd fmla="val 8135"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5"/>
          <p:cNvSpPr txBox="1"/>
          <p:nvPr/>
        </p:nvSpPr>
        <p:spPr>
          <a:xfrm>
            <a:off x="725603" y="1467423"/>
            <a:ext cx="904800" cy="847200"/>
          </a:xfrm>
          <a:prstGeom prst="rect">
            <a:avLst/>
          </a:prstGeom>
          <a:noFill/>
          <a:ln>
            <a:noFill/>
          </a:ln>
        </p:spPr>
        <p:txBody>
          <a:bodyPr anchorCtr="0" anchor="ctr" bIns="54850" lIns="73150" spcFirstLastPara="1" rIns="73150" wrap="square" tIns="54850">
            <a:spAutoFit/>
          </a:bodyPr>
          <a:lstStyle/>
          <a:p>
            <a:pPr indent="0" lvl="0" marL="0" marR="0" rtl="0" algn="l">
              <a:lnSpc>
                <a:spcPct val="108695"/>
              </a:lnSpc>
              <a:spcBef>
                <a:spcPts val="0"/>
              </a:spcBef>
              <a:spcAft>
                <a:spcPts val="0"/>
              </a:spcAft>
              <a:buNone/>
            </a:pPr>
            <a:r>
              <a:rPr b="1" i="0" lang="en-US" sz="4784" u="none" cap="none" strike="noStrike">
                <a:solidFill>
                  <a:srgbClr val="2DFF99"/>
                </a:solidFill>
                <a:latin typeface="BioRhyme"/>
                <a:ea typeface="BioRhyme"/>
                <a:cs typeface="BioRhyme"/>
                <a:sym typeface="BioRhyme"/>
              </a:rPr>
              <a:t>01</a:t>
            </a:r>
            <a:endParaRPr/>
          </a:p>
        </p:txBody>
      </p:sp>
      <p:sp>
        <p:nvSpPr>
          <p:cNvPr id="147" name="Google Shape;147;p5"/>
          <p:cNvSpPr/>
          <p:nvPr/>
        </p:nvSpPr>
        <p:spPr>
          <a:xfrm>
            <a:off x="1571585" y="1771650"/>
            <a:ext cx="990575" cy="1057275"/>
          </a:xfrm>
          <a:prstGeom prst="roundRect">
            <a:avLst>
              <a:gd fmla="val 19228846"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48" name="Google Shape;148;p5"/>
          <p:cNvPicPr preferRelativeResize="0"/>
          <p:nvPr/>
        </p:nvPicPr>
        <p:blipFill rotWithShape="1">
          <a:blip r:embed="rId3">
            <a:alphaModFix/>
          </a:blip>
          <a:srcRect b="0" l="0" r="0" t="0"/>
          <a:stretch/>
        </p:blipFill>
        <p:spPr>
          <a:xfrm>
            <a:off x="1800179" y="2042679"/>
            <a:ext cx="533386" cy="448540"/>
          </a:xfrm>
          <a:prstGeom prst="rect">
            <a:avLst/>
          </a:prstGeom>
          <a:noFill/>
          <a:ln>
            <a:noFill/>
          </a:ln>
        </p:spPr>
      </p:pic>
      <p:sp>
        <p:nvSpPr>
          <p:cNvPr id="149" name="Google Shape;149;p5"/>
          <p:cNvSpPr txBox="1"/>
          <p:nvPr/>
        </p:nvSpPr>
        <p:spPr>
          <a:xfrm>
            <a:off x="914377" y="3067050"/>
            <a:ext cx="2314500" cy="414600"/>
          </a:xfrm>
          <a:prstGeom prst="rect">
            <a:avLst/>
          </a:prstGeom>
          <a:noFill/>
          <a:ln>
            <a:noFill/>
          </a:ln>
        </p:spPr>
        <p:txBody>
          <a:bodyPr anchorCtr="0" anchor="ctr" bIns="54850" lIns="73150" spcFirstLastPara="1" rIns="73150" wrap="square" tIns="54850">
            <a:spAutoFit/>
          </a:bodyPr>
          <a:lstStyle/>
          <a:p>
            <a:pPr indent="0" lvl="0" marL="0" marR="0" rtl="0" algn="ctr">
              <a:lnSpc>
                <a:spcPct val="163082"/>
              </a:lnSpc>
              <a:spcBef>
                <a:spcPts val="0"/>
              </a:spcBef>
              <a:spcAft>
                <a:spcPts val="0"/>
              </a:spcAft>
              <a:buNone/>
            </a:pPr>
            <a:r>
              <a:rPr b="1" i="0" lang="en-US" sz="1974" u="none" cap="none" strike="noStrike">
                <a:solidFill>
                  <a:srgbClr val="FFFFFF"/>
                </a:solidFill>
                <a:latin typeface="BioRhyme"/>
                <a:ea typeface="BioRhyme"/>
                <a:cs typeface="BioRhyme"/>
                <a:sym typeface="BioRhyme"/>
              </a:rPr>
              <a:t>Detection</a:t>
            </a:r>
            <a:endParaRPr sz="1700"/>
          </a:p>
        </p:txBody>
      </p:sp>
      <p:sp>
        <p:nvSpPr>
          <p:cNvPr id="150" name="Google Shape;150;p5"/>
          <p:cNvSpPr txBox="1"/>
          <p:nvPr/>
        </p:nvSpPr>
        <p:spPr>
          <a:xfrm>
            <a:off x="909615" y="4074612"/>
            <a:ext cx="2314500" cy="1013700"/>
          </a:xfrm>
          <a:prstGeom prst="rect">
            <a:avLst/>
          </a:prstGeom>
          <a:noFill/>
          <a:ln>
            <a:noFill/>
          </a:ln>
        </p:spPr>
        <p:txBody>
          <a:bodyPr anchorCtr="0" anchor="ctr" bIns="54850" lIns="73150" spcFirstLastPara="1" rIns="73150" wrap="square" tIns="54850">
            <a:spAutoFit/>
          </a:bodyPr>
          <a:lstStyle/>
          <a:p>
            <a:pPr indent="0" lvl="0" marL="0" marR="0" rtl="0" algn="ctr">
              <a:lnSpc>
                <a:spcPct val="173003"/>
              </a:lnSpc>
              <a:spcBef>
                <a:spcPts val="0"/>
              </a:spcBef>
              <a:spcAft>
                <a:spcPts val="0"/>
              </a:spcAft>
              <a:buNone/>
            </a:pPr>
            <a:r>
              <a:rPr b="0" i="0" lang="en-US" sz="1315" u="none" cap="none" strike="noStrike">
                <a:solidFill>
                  <a:srgbClr val="D1D5DB"/>
                </a:solidFill>
                <a:latin typeface="Archivo"/>
                <a:ea typeface="Archivo"/>
                <a:cs typeface="Archivo"/>
                <a:sym typeface="Archivo"/>
              </a:rPr>
              <a:t> System monitors patient's </a:t>
            </a:r>
            <a:r>
              <a:rPr b="1" i="0" lang="en-US" sz="1315" u="none" cap="none" strike="noStrike">
                <a:solidFill>
                  <a:srgbClr val="2DFF99"/>
                </a:solidFill>
                <a:latin typeface="Archivo"/>
                <a:ea typeface="Archivo"/>
                <a:cs typeface="Archivo"/>
                <a:sym typeface="Archivo"/>
              </a:rPr>
              <a:t>visual attention</a:t>
            </a:r>
            <a:r>
              <a:rPr b="0" i="0" lang="en-US" sz="1315" u="none" cap="none" strike="noStrike">
                <a:solidFill>
                  <a:srgbClr val="D1D5DB"/>
                </a:solidFill>
                <a:latin typeface="Archivo"/>
                <a:ea typeface="Archivo"/>
                <a:cs typeface="Archivo"/>
                <a:sym typeface="Archivo"/>
              </a:rPr>
              <a:t> and brain rest patterns </a:t>
            </a:r>
            <a:endParaRPr/>
          </a:p>
        </p:txBody>
      </p:sp>
      <p:pic>
        <p:nvPicPr>
          <p:cNvPr descr="image.png" id="151" name="Google Shape;151;p5"/>
          <p:cNvPicPr preferRelativeResize="0"/>
          <p:nvPr/>
        </p:nvPicPr>
        <p:blipFill rotWithShape="1">
          <a:blip r:embed="rId4">
            <a:alphaModFix/>
          </a:blip>
          <a:srcRect b="0" l="0" r="0" t="0"/>
          <a:stretch/>
        </p:blipFill>
        <p:spPr>
          <a:xfrm>
            <a:off x="1228644" y="5714307"/>
            <a:ext cx="190495" cy="162485"/>
          </a:xfrm>
          <a:prstGeom prst="rect">
            <a:avLst/>
          </a:prstGeom>
          <a:noFill/>
          <a:ln>
            <a:noFill/>
          </a:ln>
        </p:spPr>
      </p:pic>
      <p:sp>
        <p:nvSpPr>
          <p:cNvPr id="152" name="Google Shape;152;p5"/>
          <p:cNvSpPr txBox="1"/>
          <p:nvPr/>
        </p:nvSpPr>
        <p:spPr>
          <a:xfrm>
            <a:off x="1495337" y="5681250"/>
            <a:ext cx="1409700" cy="2580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956" u="none" cap="none" strike="noStrike">
                <a:solidFill>
                  <a:srgbClr val="9CA3AF"/>
                </a:solidFill>
                <a:latin typeface="Archivo"/>
                <a:ea typeface="Archivo"/>
                <a:cs typeface="Archivo"/>
                <a:sym typeface="Archivo"/>
              </a:rPr>
              <a:t>Real-time monitoring</a:t>
            </a:r>
            <a:endParaRPr/>
          </a:p>
        </p:txBody>
      </p:sp>
      <p:pic>
        <p:nvPicPr>
          <p:cNvPr descr="image.png" id="153" name="Google Shape;153;p5"/>
          <p:cNvPicPr preferRelativeResize="0"/>
          <p:nvPr/>
        </p:nvPicPr>
        <p:blipFill rotWithShape="1">
          <a:blip r:embed="rId5">
            <a:alphaModFix/>
          </a:blip>
          <a:srcRect b="0" l="0" r="0" t="0"/>
          <a:stretch/>
        </p:blipFill>
        <p:spPr>
          <a:xfrm>
            <a:off x="3857528" y="3650581"/>
            <a:ext cx="457188" cy="318836"/>
          </a:xfrm>
          <a:prstGeom prst="rect">
            <a:avLst/>
          </a:prstGeom>
          <a:noFill/>
          <a:ln>
            <a:noFill/>
          </a:ln>
        </p:spPr>
      </p:pic>
      <p:sp>
        <p:nvSpPr>
          <p:cNvPr id="154" name="Google Shape;154;p5"/>
          <p:cNvSpPr/>
          <p:nvPr/>
        </p:nvSpPr>
        <p:spPr>
          <a:xfrm>
            <a:off x="4695707" y="1457325"/>
            <a:ext cx="2809804" cy="4714875"/>
          </a:xfrm>
          <a:prstGeom prst="roundRect">
            <a:avLst>
              <a:gd fmla="val 8135"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5"/>
          <p:cNvSpPr txBox="1"/>
          <p:nvPr/>
        </p:nvSpPr>
        <p:spPr>
          <a:xfrm>
            <a:off x="4703014" y="1400748"/>
            <a:ext cx="1019100" cy="847200"/>
          </a:xfrm>
          <a:prstGeom prst="rect">
            <a:avLst/>
          </a:prstGeom>
          <a:noFill/>
          <a:ln>
            <a:noFill/>
          </a:ln>
        </p:spPr>
        <p:txBody>
          <a:bodyPr anchorCtr="0" anchor="ctr" bIns="54850" lIns="73150" spcFirstLastPara="1" rIns="73150" wrap="square" tIns="54850">
            <a:spAutoFit/>
          </a:bodyPr>
          <a:lstStyle/>
          <a:p>
            <a:pPr indent="0" lvl="0" marL="0" marR="0" rtl="0" algn="l">
              <a:lnSpc>
                <a:spcPct val="108695"/>
              </a:lnSpc>
              <a:spcBef>
                <a:spcPts val="0"/>
              </a:spcBef>
              <a:spcAft>
                <a:spcPts val="0"/>
              </a:spcAft>
              <a:buNone/>
            </a:pPr>
            <a:r>
              <a:rPr b="1" i="0" lang="en-US" sz="4784" u="none" cap="none" strike="noStrike">
                <a:solidFill>
                  <a:srgbClr val="2DFF99"/>
                </a:solidFill>
                <a:latin typeface="BioRhyme"/>
                <a:ea typeface="BioRhyme"/>
                <a:cs typeface="BioRhyme"/>
                <a:sym typeface="BioRhyme"/>
              </a:rPr>
              <a:t>02</a:t>
            </a:r>
            <a:endParaRPr/>
          </a:p>
        </p:txBody>
      </p:sp>
      <p:sp>
        <p:nvSpPr>
          <p:cNvPr id="156" name="Google Shape;156;p5"/>
          <p:cNvSpPr/>
          <p:nvPr/>
        </p:nvSpPr>
        <p:spPr>
          <a:xfrm>
            <a:off x="5600559" y="1704975"/>
            <a:ext cx="990575" cy="1057275"/>
          </a:xfrm>
          <a:prstGeom prst="roundRect">
            <a:avLst>
              <a:gd fmla="val 19228846"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57" name="Google Shape;157;p5"/>
          <p:cNvPicPr preferRelativeResize="0"/>
          <p:nvPr/>
        </p:nvPicPr>
        <p:blipFill rotWithShape="1">
          <a:blip r:embed="rId6">
            <a:alphaModFix/>
          </a:blip>
          <a:srcRect b="0" l="0" r="0" t="0"/>
          <a:stretch/>
        </p:blipFill>
        <p:spPr>
          <a:xfrm>
            <a:off x="5829154" y="1985096"/>
            <a:ext cx="533386" cy="430356"/>
          </a:xfrm>
          <a:prstGeom prst="rect">
            <a:avLst/>
          </a:prstGeom>
          <a:noFill/>
          <a:ln>
            <a:noFill/>
          </a:ln>
        </p:spPr>
      </p:pic>
      <p:sp>
        <p:nvSpPr>
          <p:cNvPr id="158" name="Google Shape;158;p5"/>
          <p:cNvSpPr txBox="1"/>
          <p:nvPr/>
        </p:nvSpPr>
        <p:spPr>
          <a:xfrm>
            <a:off x="4943351" y="2990849"/>
            <a:ext cx="2314500" cy="910200"/>
          </a:xfrm>
          <a:prstGeom prst="rect">
            <a:avLst/>
          </a:prstGeom>
          <a:noFill/>
          <a:ln>
            <a:noFill/>
          </a:ln>
        </p:spPr>
        <p:txBody>
          <a:bodyPr anchorCtr="0" anchor="ctr" bIns="54850" lIns="73150" spcFirstLastPara="1" rIns="73150" wrap="square" tIns="54850">
            <a:spAutoFit/>
          </a:bodyPr>
          <a:lstStyle/>
          <a:p>
            <a:pPr indent="0" lvl="0" marL="0" marR="0" rtl="0" algn="ctr">
              <a:lnSpc>
                <a:spcPct val="163082"/>
              </a:lnSpc>
              <a:spcBef>
                <a:spcPts val="0"/>
              </a:spcBef>
              <a:spcAft>
                <a:spcPts val="0"/>
              </a:spcAft>
              <a:buNone/>
            </a:pPr>
            <a:r>
              <a:rPr b="1" i="0" lang="en-US" sz="1974" u="none" cap="none" strike="noStrike">
                <a:solidFill>
                  <a:srgbClr val="FFFFFF"/>
                </a:solidFill>
                <a:latin typeface="BioRhyme"/>
                <a:ea typeface="BioRhyme"/>
                <a:cs typeface="BioRhyme"/>
                <a:sym typeface="BioRhyme"/>
              </a:rPr>
              <a:t>Adaptive Shrouding</a:t>
            </a:r>
            <a:endParaRPr sz="1700"/>
          </a:p>
        </p:txBody>
      </p:sp>
      <p:sp>
        <p:nvSpPr>
          <p:cNvPr id="159" name="Google Shape;159;p5"/>
          <p:cNvSpPr txBox="1"/>
          <p:nvPr/>
        </p:nvSpPr>
        <p:spPr>
          <a:xfrm>
            <a:off x="4943351" y="3943350"/>
            <a:ext cx="2314517" cy="1362075"/>
          </a:xfrm>
          <a:prstGeom prst="rect">
            <a:avLst/>
          </a:prstGeom>
          <a:noFill/>
          <a:ln>
            <a:noFill/>
          </a:ln>
        </p:spPr>
        <p:txBody>
          <a:bodyPr anchorCtr="0" anchor="ctr" bIns="54850" lIns="73150" spcFirstLastPara="1" rIns="73150" wrap="square" tIns="54850">
            <a:spAutoFit/>
          </a:bodyPr>
          <a:lstStyle/>
          <a:p>
            <a:pPr indent="0" lvl="0" marL="0" marR="0" rtl="0" algn="ctr">
              <a:lnSpc>
                <a:spcPct val="173003"/>
              </a:lnSpc>
              <a:spcBef>
                <a:spcPts val="0"/>
              </a:spcBef>
              <a:spcAft>
                <a:spcPts val="0"/>
              </a:spcAft>
              <a:buNone/>
            </a:pPr>
            <a:r>
              <a:rPr b="0" i="0" lang="en-US" sz="1315" u="none" cap="none" strike="noStrike">
                <a:solidFill>
                  <a:srgbClr val="D1D5DB"/>
                </a:solidFill>
                <a:latin typeface="Archivo"/>
                <a:ea typeface="Archivo"/>
                <a:cs typeface="Archivo"/>
                <a:sym typeface="Archivo"/>
              </a:rPr>
              <a:t> When left brain rests too long, right visual field gradually </a:t>
            </a:r>
            <a:r>
              <a:rPr b="1" i="0" lang="en-US" sz="1315" u="none" cap="none" strike="noStrike">
                <a:solidFill>
                  <a:srgbClr val="2DFF99"/>
                </a:solidFill>
                <a:latin typeface="Archivo"/>
                <a:ea typeface="Archivo"/>
                <a:cs typeface="Archivo"/>
                <a:sym typeface="Archivo"/>
              </a:rPr>
              <a:t>darkens to black &amp; white</a:t>
            </a:r>
            <a:r>
              <a:rPr b="0" i="0" lang="en-US" sz="1315" u="none" cap="none" strike="noStrike">
                <a:solidFill>
                  <a:srgbClr val="D1D5DB"/>
                </a:solidFill>
                <a:latin typeface="Archivo"/>
                <a:ea typeface="Archivo"/>
                <a:cs typeface="Archivo"/>
                <a:sym typeface="Archivo"/>
              </a:rPr>
              <a:t> </a:t>
            </a:r>
            <a:endParaRPr/>
          </a:p>
        </p:txBody>
      </p:sp>
      <p:pic>
        <p:nvPicPr>
          <p:cNvPr descr="image.png" id="160" name="Google Shape;160;p5"/>
          <p:cNvPicPr preferRelativeResize="0"/>
          <p:nvPr/>
        </p:nvPicPr>
        <p:blipFill rotWithShape="1">
          <a:blip r:embed="rId7">
            <a:alphaModFix/>
          </a:blip>
          <a:srcRect b="0" l="0" r="0" t="0"/>
          <a:stretch/>
        </p:blipFill>
        <p:spPr>
          <a:xfrm>
            <a:off x="5229094" y="5745816"/>
            <a:ext cx="190495" cy="128867"/>
          </a:xfrm>
          <a:prstGeom prst="rect">
            <a:avLst/>
          </a:prstGeom>
          <a:noFill/>
          <a:ln>
            <a:noFill/>
          </a:ln>
        </p:spPr>
      </p:pic>
      <p:sp>
        <p:nvSpPr>
          <p:cNvPr id="161" name="Google Shape;161;p5"/>
          <p:cNvSpPr txBox="1"/>
          <p:nvPr/>
        </p:nvSpPr>
        <p:spPr>
          <a:xfrm>
            <a:off x="5495787" y="5695949"/>
            <a:ext cx="1466813" cy="22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956" u="none" cap="none" strike="noStrike">
                <a:solidFill>
                  <a:srgbClr val="9CA3AF"/>
                </a:solidFill>
                <a:latin typeface="Archivo"/>
                <a:ea typeface="Archivo"/>
                <a:cs typeface="Archivo"/>
                <a:sym typeface="Archivo"/>
              </a:rPr>
              <a:t>Visual penalty system</a:t>
            </a:r>
            <a:endParaRPr/>
          </a:p>
        </p:txBody>
      </p:sp>
      <p:pic>
        <p:nvPicPr>
          <p:cNvPr descr="image.png" id="162" name="Google Shape;162;p5"/>
          <p:cNvPicPr preferRelativeResize="0"/>
          <p:nvPr/>
        </p:nvPicPr>
        <p:blipFill rotWithShape="1">
          <a:blip r:embed="rId5">
            <a:alphaModFix/>
          </a:blip>
          <a:srcRect b="0" l="0" r="0" t="0"/>
          <a:stretch/>
        </p:blipFill>
        <p:spPr>
          <a:xfrm>
            <a:off x="7876978" y="3650581"/>
            <a:ext cx="457188" cy="318836"/>
          </a:xfrm>
          <a:prstGeom prst="rect">
            <a:avLst/>
          </a:prstGeom>
          <a:noFill/>
          <a:ln>
            <a:noFill/>
          </a:ln>
        </p:spPr>
      </p:pic>
      <p:sp>
        <p:nvSpPr>
          <p:cNvPr id="163" name="Google Shape;163;p5"/>
          <p:cNvSpPr/>
          <p:nvPr/>
        </p:nvSpPr>
        <p:spPr>
          <a:xfrm>
            <a:off x="8715150" y="1457325"/>
            <a:ext cx="2809800" cy="4714800"/>
          </a:xfrm>
          <a:prstGeom prst="roundRect">
            <a:avLst>
              <a:gd fmla="val 8135"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5"/>
          <p:cNvSpPr txBox="1"/>
          <p:nvPr/>
        </p:nvSpPr>
        <p:spPr>
          <a:xfrm>
            <a:off x="8722463" y="1439421"/>
            <a:ext cx="1009500" cy="847200"/>
          </a:xfrm>
          <a:prstGeom prst="rect">
            <a:avLst/>
          </a:prstGeom>
          <a:noFill/>
          <a:ln>
            <a:noFill/>
          </a:ln>
        </p:spPr>
        <p:txBody>
          <a:bodyPr anchorCtr="0" anchor="ctr" bIns="54850" lIns="73150" spcFirstLastPara="1" rIns="73150" wrap="square" tIns="54850">
            <a:spAutoFit/>
          </a:bodyPr>
          <a:lstStyle/>
          <a:p>
            <a:pPr indent="0" lvl="0" marL="0" marR="0" rtl="0" algn="l">
              <a:lnSpc>
                <a:spcPct val="108695"/>
              </a:lnSpc>
              <a:spcBef>
                <a:spcPts val="0"/>
              </a:spcBef>
              <a:spcAft>
                <a:spcPts val="0"/>
              </a:spcAft>
              <a:buNone/>
            </a:pPr>
            <a:r>
              <a:rPr b="1" i="0" lang="en-US" sz="4784" u="none" cap="none" strike="noStrike">
                <a:solidFill>
                  <a:srgbClr val="2DFF99"/>
                </a:solidFill>
                <a:latin typeface="BioRhyme"/>
                <a:ea typeface="BioRhyme"/>
                <a:cs typeface="BioRhyme"/>
                <a:sym typeface="BioRhyme"/>
              </a:rPr>
              <a:t>03</a:t>
            </a:r>
            <a:endParaRPr/>
          </a:p>
        </p:txBody>
      </p:sp>
      <p:sp>
        <p:nvSpPr>
          <p:cNvPr id="165" name="Google Shape;165;p5"/>
          <p:cNvSpPr/>
          <p:nvPr/>
        </p:nvSpPr>
        <p:spPr>
          <a:xfrm>
            <a:off x="9629534" y="1704975"/>
            <a:ext cx="990575" cy="1057275"/>
          </a:xfrm>
          <a:prstGeom prst="roundRect">
            <a:avLst>
              <a:gd fmla="val 19228846"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6" name="Google Shape;166;p5"/>
          <p:cNvPicPr preferRelativeResize="0"/>
          <p:nvPr/>
        </p:nvPicPr>
        <p:blipFill rotWithShape="1">
          <a:blip r:embed="rId8">
            <a:alphaModFix/>
          </a:blip>
          <a:srcRect b="0" l="0" r="0" t="0"/>
          <a:stretch/>
        </p:blipFill>
        <p:spPr>
          <a:xfrm>
            <a:off x="9912159" y="1982035"/>
            <a:ext cx="399472" cy="533399"/>
          </a:xfrm>
          <a:prstGeom prst="rect">
            <a:avLst/>
          </a:prstGeom>
          <a:noFill/>
          <a:ln>
            <a:noFill/>
          </a:ln>
        </p:spPr>
      </p:pic>
      <p:sp>
        <p:nvSpPr>
          <p:cNvPr id="167" name="Google Shape;167;p5"/>
          <p:cNvSpPr txBox="1"/>
          <p:nvPr/>
        </p:nvSpPr>
        <p:spPr>
          <a:xfrm>
            <a:off x="8933444" y="2990850"/>
            <a:ext cx="2460000" cy="414600"/>
          </a:xfrm>
          <a:prstGeom prst="rect">
            <a:avLst/>
          </a:prstGeom>
          <a:noFill/>
          <a:ln>
            <a:noFill/>
          </a:ln>
        </p:spPr>
        <p:txBody>
          <a:bodyPr anchorCtr="0" anchor="ctr" bIns="54850" lIns="73150" spcFirstLastPara="1" rIns="73150" wrap="square" tIns="54850">
            <a:spAutoFit/>
          </a:bodyPr>
          <a:lstStyle/>
          <a:p>
            <a:pPr indent="0" lvl="0" marL="0" marR="0" rtl="0" algn="ctr">
              <a:lnSpc>
                <a:spcPct val="163082"/>
              </a:lnSpc>
              <a:spcBef>
                <a:spcPts val="0"/>
              </a:spcBef>
              <a:spcAft>
                <a:spcPts val="0"/>
              </a:spcAft>
              <a:buNone/>
            </a:pPr>
            <a:r>
              <a:rPr b="1" i="0" lang="en-US" sz="1974" u="none" cap="none" strike="noStrike">
                <a:solidFill>
                  <a:srgbClr val="FFFFFF"/>
                </a:solidFill>
                <a:latin typeface="BioRhyme"/>
                <a:ea typeface="BioRhyme"/>
                <a:cs typeface="BioRhyme"/>
                <a:sym typeface="BioRhyme"/>
              </a:rPr>
              <a:t>Forced Recovery</a:t>
            </a:r>
            <a:endParaRPr sz="1700"/>
          </a:p>
        </p:txBody>
      </p:sp>
      <p:sp>
        <p:nvSpPr>
          <p:cNvPr id="168" name="Google Shape;168;p5"/>
          <p:cNvSpPr txBox="1"/>
          <p:nvPr/>
        </p:nvSpPr>
        <p:spPr>
          <a:xfrm>
            <a:off x="8962800" y="3943350"/>
            <a:ext cx="2314517" cy="1362075"/>
          </a:xfrm>
          <a:prstGeom prst="rect">
            <a:avLst/>
          </a:prstGeom>
          <a:noFill/>
          <a:ln>
            <a:noFill/>
          </a:ln>
        </p:spPr>
        <p:txBody>
          <a:bodyPr anchorCtr="0" anchor="ctr" bIns="54850" lIns="73150" spcFirstLastPara="1" rIns="73150" wrap="square" tIns="54850">
            <a:spAutoFit/>
          </a:bodyPr>
          <a:lstStyle/>
          <a:p>
            <a:pPr indent="0" lvl="0" marL="0" marR="0" rtl="0" algn="ctr">
              <a:lnSpc>
                <a:spcPct val="173003"/>
              </a:lnSpc>
              <a:spcBef>
                <a:spcPts val="0"/>
              </a:spcBef>
              <a:spcAft>
                <a:spcPts val="0"/>
              </a:spcAft>
              <a:buNone/>
            </a:pPr>
            <a:r>
              <a:rPr b="0" i="0" lang="en-US" sz="1315" u="none" cap="none" strike="noStrike">
                <a:solidFill>
                  <a:srgbClr val="D1D5DB"/>
                </a:solidFill>
                <a:latin typeface="Archivo"/>
                <a:ea typeface="Archivo"/>
                <a:cs typeface="Archivo"/>
                <a:sym typeface="Archivo"/>
              </a:rPr>
              <a:t> Patient must use affected hand to </a:t>
            </a:r>
            <a:r>
              <a:rPr b="1" i="0" lang="en-US" sz="1315" u="none" cap="none" strike="noStrike">
                <a:solidFill>
                  <a:srgbClr val="2DFF99"/>
                </a:solidFill>
                <a:latin typeface="Archivo"/>
                <a:ea typeface="Archivo"/>
                <a:cs typeface="Archivo"/>
                <a:sym typeface="Archivo"/>
              </a:rPr>
              <a:t>'wipe air'</a:t>
            </a:r>
            <a:r>
              <a:rPr b="0" i="0" lang="en-US" sz="1315" u="none" cap="none" strike="noStrike">
                <a:solidFill>
                  <a:srgbClr val="D1D5DB"/>
                </a:solidFill>
                <a:latin typeface="Archivo"/>
                <a:ea typeface="Archivo"/>
                <a:cs typeface="Archivo"/>
                <a:sym typeface="Archivo"/>
              </a:rPr>
              <a:t>, clearing visual obstacles </a:t>
            </a:r>
            <a:endParaRPr/>
          </a:p>
        </p:txBody>
      </p:sp>
      <p:pic>
        <p:nvPicPr>
          <p:cNvPr descr="image.png" id="169" name="Google Shape;169;p5"/>
          <p:cNvPicPr preferRelativeResize="0"/>
          <p:nvPr/>
        </p:nvPicPr>
        <p:blipFill rotWithShape="1">
          <a:blip r:embed="rId9">
            <a:alphaModFix/>
          </a:blip>
          <a:srcRect b="0" l="0" r="0" t="0"/>
          <a:stretch/>
        </p:blipFill>
        <p:spPr>
          <a:xfrm>
            <a:off x="9296167" y="5729007"/>
            <a:ext cx="190495" cy="162485"/>
          </a:xfrm>
          <a:prstGeom prst="rect">
            <a:avLst/>
          </a:prstGeom>
          <a:noFill/>
          <a:ln>
            <a:noFill/>
          </a:ln>
        </p:spPr>
      </p:pic>
      <p:sp>
        <p:nvSpPr>
          <p:cNvPr id="170" name="Google Shape;170;p5"/>
          <p:cNvSpPr txBox="1"/>
          <p:nvPr/>
        </p:nvSpPr>
        <p:spPr>
          <a:xfrm>
            <a:off x="9562860" y="5695949"/>
            <a:ext cx="1381090" cy="22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956" u="none" cap="none" strike="noStrike">
                <a:solidFill>
                  <a:srgbClr val="9CA3AF"/>
                </a:solidFill>
                <a:latin typeface="Archivo"/>
                <a:ea typeface="Archivo"/>
                <a:cs typeface="Archivo"/>
                <a:sym typeface="Archivo"/>
              </a:rPr>
              <a:t>Clear vision restored</a:t>
            </a:r>
            <a:endParaRPr/>
          </a:p>
        </p:txBody>
      </p:sp>
      <p:sp>
        <p:nvSpPr>
          <p:cNvPr id="171" name="Google Shape;171;p5"/>
          <p:cNvSpPr/>
          <p:nvPr/>
        </p:nvSpPr>
        <p:spPr>
          <a:xfrm>
            <a:off x="0" y="6819900"/>
            <a:ext cx="12191695" cy="38100"/>
          </a:xfrm>
          <a:prstGeom prst="rect">
            <a:avLst/>
          </a:prstGeom>
          <a:gradFill>
            <a:gsLst>
              <a:gs pos="0">
                <a:srgbClr val="000000">
                  <a:alpha val="0"/>
                </a:srgbClr>
              </a:gs>
              <a:gs pos="50000">
                <a:srgbClr val="2DFF99"/>
              </a:gs>
              <a:gs pos="100000">
                <a:srgbClr val="000000">
                  <a:alpha val="0"/>
                </a:srgbClr>
              </a:gs>
            </a:gsLst>
            <a:lin ang="108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3328"/>
        </a:solidFill>
      </p:bgPr>
    </p:bg>
    <p:spTree>
      <p:nvGrpSpPr>
        <p:cNvPr id="175" name="Shape 175"/>
        <p:cNvGrpSpPr/>
        <p:nvPr/>
      </p:nvGrpSpPr>
      <p:grpSpPr>
        <a:xfrm>
          <a:off x="0" y="0"/>
          <a:ext cx="0" cy="0"/>
          <a:chOff x="0" y="0"/>
          <a:chExt cx="0" cy="0"/>
        </a:xfrm>
      </p:grpSpPr>
      <p:sp>
        <p:nvSpPr>
          <p:cNvPr id="176" name="Google Shape;176;p6"/>
          <p:cNvSpPr txBox="1"/>
          <p:nvPr/>
        </p:nvSpPr>
        <p:spPr>
          <a:xfrm>
            <a:off x="666722" y="114300"/>
            <a:ext cx="9521400" cy="580200"/>
          </a:xfrm>
          <a:prstGeom prst="rect">
            <a:avLst/>
          </a:prstGeom>
          <a:noFill/>
          <a:ln>
            <a:noFill/>
          </a:ln>
        </p:spPr>
        <p:txBody>
          <a:bodyPr anchorCtr="0" anchor="ctr" bIns="54850" lIns="73150" spcFirstLastPara="1" rIns="73150" wrap="square" tIns="54850">
            <a:spAutoFit/>
          </a:bodyPr>
          <a:lstStyle/>
          <a:p>
            <a:pPr indent="0" lvl="0" marL="0" marR="0" rtl="0" algn="l">
              <a:lnSpc>
                <a:spcPct val="163043"/>
              </a:lnSpc>
              <a:spcBef>
                <a:spcPts val="0"/>
              </a:spcBef>
              <a:spcAft>
                <a:spcPts val="0"/>
              </a:spcAft>
              <a:buNone/>
            </a:pPr>
            <a:r>
              <a:rPr b="1" i="0" lang="en-US" sz="3050" u="none" cap="none" strike="noStrike">
                <a:solidFill>
                  <a:srgbClr val="FFFFFF"/>
                </a:solidFill>
                <a:latin typeface="BioRhyme"/>
                <a:ea typeface="BioRhyme"/>
                <a:cs typeface="BioRhyme"/>
                <a:sym typeface="BioRhyme"/>
              </a:rPr>
              <a:t> Research </a:t>
            </a:r>
            <a:r>
              <a:rPr b="1" i="0" lang="en-US" sz="3050" u="none" cap="none" strike="noStrike">
                <a:solidFill>
                  <a:srgbClr val="2DFF99"/>
                </a:solidFill>
                <a:latin typeface="BioRhyme"/>
                <a:ea typeface="BioRhyme"/>
                <a:cs typeface="BioRhyme"/>
                <a:sym typeface="BioRhyme"/>
              </a:rPr>
              <a:t>Validates Our Approach</a:t>
            </a:r>
            <a:r>
              <a:rPr b="1" i="0" lang="en-US" sz="3050" u="none" cap="none" strike="noStrike">
                <a:solidFill>
                  <a:srgbClr val="FFFFFF"/>
                </a:solidFill>
                <a:latin typeface="BioRhyme"/>
                <a:ea typeface="BioRhyme"/>
                <a:cs typeface="BioRhyme"/>
                <a:sym typeface="BioRhyme"/>
              </a:rPr>
              <a:t> </a:t>
            </a:r>
            <a:endParaRPr sz="3050"/>
          </a:p>
        </p:txBody>
      </p:sp>
      <p:sp>
        <p:nvSpPr>
          <p:cNvPr id="177" name="Google Shape;177;p6"/>
          <p:cNvSpPr/>
          <p:nvPr/>
        </p:nvSpPr>
        <p:spPr>
          <a:xfrm>
            <a:off x="666733" y="1419225"/>
            <a:ext cx="3419389" cy="5172075"/>
          </a:xfrm>
          <a:prstGeom prst="roundRect">
            <a:avLst>
              <a:gd fmla="val 6685"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6"/>
          <p:cNvSpPr/>
          <p:nvPr/>
        </p:nvSpPr>
        <p:spPr>
          <a:xfrm>
            <a:off x="1952576" y="1743075"/>
            <a:ext cx="838179" cy="904874"/>
          </a:xfrm>
          <a:prstGeom prst="roundRect">
            <a:avLst>
              <a:gd fmla="val 22725000"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79" name="Google Shape;179;p6"/>
          <p:cNvPicPr preferRelativeResize="0"/>
          <p:nvPr/>
        </p:nvPicPr>
        <p:blipFill rotWithShape="1">
          <a:blip r:embed="rId3">
            <a:alphaModFix/>
          </a:blip>
          <a:srcRect b="0" l="0" r="0" t="0"/>
          <a:stretch/>
        </p:blipFill>
        <p:spPr>
          <a:xfrm>
            <a:off x="2143071" y="1969669"/>
            <a:ext cx="457188" cy="385010"/>
          </a:xfrm>
          <a:prstGeom prst="rect">
            <a:avLst/>
          </a:prstGeom>
          <a:noFill/>
          <a:ln>
            <a:noFill/>
          </a:ln>
        </p:spPr>
      </p:pic>
      <p:sp>
        <p:nvSpPr>
          <p:cNvPr id="180" name="Google Shape;180;p6"/>
          <p:cNvSpPr txBox="1"/>
          <p:nvPr/>
        </p:nvSpPr>
        <p:spPr>
          <a:xfrm>
            <a:off x="990575" y="2876549"/>
            <a:ext cx="2771705" cy="742950"/>
          </a:xfrm>
          <a:prstGeom prst="rect">
            <a:avLst/>
          </a:prstGeom>
          <a:noFill/>
          <a:ln>
            <a:noFill/>
          </a:ln>
        </p:spPr>
        <p:txBody>
          <a:bodyPr anchorCtr="0" anchor="ctr" bIns="54850" lIns="73150" spcFirstLastPara="1" rIns="73150" wrap="square" tIns="54850">
            <a:spAutoFit/>
          </a:bodyPr>
          <a:lstStyle/>
          <a:p>
            <a:pPr indent="0" lvl="0" marL="0" marR="0" rtl="0" algn="ctr">
              <a:lnSpc>
                <a:spcPct val="163127"/>
              </a:lnSpc>
              <a:spcBef>
                <a:spcPts val="0"/>
              </a:spcBef>
              <a:spcAft>
                <a:spcPts val="0"/>
              </a:spcAft>
              <a:buNone/>
            </a:pPr>
            <a:r>
              <a:rPr b="1" i="0" lang="en-US" sz="1554" u="none" cap="none" strike="noStrike">
                <a:solidFill>
                  <a:srgbClr val="FFFFFF"/>
                </a:solidFill>
                <a:latin typeface="BioRhyme"/>
                <a:ea typeface="BioRhyme"/>
                <a:cs typeface="BioRhyme"/>
                <a:sym typeface="BioRhyme"/>
              </a:rPr>
              <a:t>VR/AR in Early Rehabilitation</a:t>
            </a:r>
            <a:endParaRPr/>
          </a:p>
        </p:txBody>
      </p:sp>
      <p:sp>
        <p:nvSpPr>
          <p:cNvPr id="181" name="Google Shape;181;p6"/>
          <p:cNvSpPr txBox="1"/>
          <p:nvPr/>
        </p:nvSpPr>
        <p:spPr>
          <a:xfrm>
            <a:off x="990575" y="3867149"/>
            <a:ext cx="2771705" cy="1362075"/>
          </a:xfrm>
          <a:prstGeom prst="rect">
            <a:avLst/>
          </a:prstGeom>
          <a:noFill/>
          <a:ln>
            <a:noFill/>
          </a:ln>
        </p:spPr>
        <p:txBody>
          <a:bodyPr anchorCtr="0" anchor="ctr" bIns="54850" lIns="73150" spcFirstLastPara="1" rIns="73150" wrap="square" tIns="54850">
            <a:spAutoFit/>
          </a:bodyPr>
          <a:lstStyle/>
          <a:p>
            <a:pPr indent="0" lvl="0" marL="0" marR="0" rtl="0" algn="ctr">
              <a:lnSpc>
                <a:spcPct val="173003"/>
              </a:lnSpc>
              <a:spcBef>
                <a:spcPts val="0"/>
              </a:spcBef>
              <a:spcAft>
                <a:spcPts val="0"/>
              </a:spcAft>
              <a:buNone/>
            </a:pPr>
            <a:r>
              <a:rPr b="0" i="0" lang="en-US" sz="1315" u="none" cap="none" strike="noStrike">
                <a:solidFill>
                  <a:srgbClr val="D1D5DB"/>
                </a:solidFill>
                <a:latin typeface="Archivo"/>
                <a:ea typeface="Archivo"/>
                <a:cs typeface="Archivo"/>
                <a:sym typeface="Archivo"/>
              </a:rPr>
              <a:t> VR/AR helps in </a:t>
            </a:r>
            <a:r>
              <a:rPr b="1" i="0" lang="en-US" sz="1315" u="none" cap="none" strike="noStrike">
                <a:solidFill>
                  <a:srgbClr val="2DFF99"/>
                </a:solidFill>
                <a:latin typeface="Archivo"/>
                <a:ea typeface="Archivo"/>
                <a:cs typeface="Archivo"/>
                <a:sym typeface="Archivo"/>
              </a:rPr>
              <a:t>early rehabilitation</a:t>
            </a:r>
            <a:r>
              <a:rPr b="0" i="0" lang="en-US" sz="1315" u="none" cap="none" strike="noStrike">
                <a:solidFill>
                  <a:srgbClr val="D1D5DB"/>
                </a:solidFill>
                <a:latin typeface="Archivo"/>
                <a:ea typeface="Archivo"/>
                <a:cs typeface="Archivo"/>
                <a:sym typeface="Archivo"/>
              </a:rPr>
              <a:t> and yields better results in post-stroke patients </a:t>
            </a:r>
            <a:endParaRPr/>
          </a:p>
        </p:txBody>
      </p:sp>
      <p:sp>
        <p:nvSpPr>
          <p:cNvPr id="182" name="Google Shape;182;p6"/>
          <p:cNvSpPr txBox="1"/>
          <p:nvPr/>
        </p:nvSpPr>
        <p:spPr>
          <a:xfrm>
            <a:off x="990575" y="5705475"/>
            <a:ext cx="2771705" cy="228600"/>
          </a:xfrm>
          <a:prstGeom prst="rect">
            <a:avLst/>
          </a:prstGeom>
          <a:noFill/>
          <a:ln>
            <a:noFill/>
          </a:ln>
        </p:spPr>
        <p:txBody>
          <a:bodyPr anchorCtr="0" anchor="ctr" bIns="54850" lIns="73150" spcFirstLastPara="1" rIns="73150" wrap="square" tIns="54850">
            <a:spAutoFit/>
          </a:bodyPr>
          <a:lstStyle/>
          <a:p>
            <a:pPr indent="0" lvl="0" marL="0" marR="0" rtl="0" algn="ctr">
              <a:lnSpc>
                <a:spcPct val="163179"/>
              </a:lnSpc>
              <a:spcBef>
                <a:spcPts val="0"/>
              </a:spcBef>
              <a:spcAft>
                <a:spcPts val="0"/>
              </a:spcAft>
              <a:buNone/>
            </a:pPr>
            <a:r>
              <a:rPr b="0" i="0" lang="en-US" sz="956" u="none" cap="none" strike="noStrike">
                <a:solidFill>
                  <a:srgbClr val="9CA3AF"/>
                </a:solidFill>
                <a:latin typeface="Archivo"/>
                <a:ea typeface="Archivo"/>
                <a:cs typeface="Archivo"/>
                <a:sym typeface="Archivo"/>
              </a:rPr>
              <a:t>Source</a:t>
            </a:r>
            <a:endParaRPr/>
          </a:p>
        </p:txBody>
      </p:sp>
      <p:sp>
        <p:nvSpPr>
          <p:cNvPr id="183" name="Google Shape;183;p6"/>
          <p:cNvSpPr txBox="1"/>
          <p:nvPr/>
        </p:nvSpPr>
        <p:spPr>
          <a:xfrm>
            <a:off x="990575" y="6010274"/>
            <a:ext cx="2771705" cy="257175"/>
          </a:xfrm>
          <a:prstGeom prst="rect">
            <a:avLst/>
          </a:prstGeom>
          <a:noFill/>
          <a:ln>
            <a:noFill/>
          </a:ln>
        </p:spPr>
        <p:txBody>
          <a:bodyPr anchorCtr="0" anchor="ctr" bIns="54850" lIns="73150" spcFirstLastPara="1" rIns="73150" wrap="square" tIns="54850">
            <a:spAutoFit/>
          </a:bodyPr>
          <a:lstStyle/>
          <a:p>
            <a:pPr indent="0" lvl="0" marL="0" marR="0" rtl="0" algn="ctr">
              <a:lnSpc>
                <a:spcPct val="163104"/>
              </a:lnSpc>
              <a:spcBef>
                <a:spcPts val="0"/>
              </a:spcBef>
              <a:spcAft>
                <a:spcPts val="0"/>
              </a:spcAft>
              <a:buNone/>
            </a:pPr>
            <a:r>
              <a:rPr b="1" i="0" lang="en-US" sz="1076" u="none" cap="none" strike="noStrike">
                <a:solidFill>
                  <a:srgbClr val="FFFFFF"/>
                </a:solidFill>
                <a:latin typeface="Archivo"/>
                <a:ea typeface="Archivo"/>
                <a:cs typeface="Archivo"/>
                <a:sym typeface="Archivo"/>
              </a:rPr>
              <a:t>PMC, 2023</a:t>
            </a:r>
            <a:endParaRPr/>
          </a:p>
        </p:txBody>
      </p:sp>
      <p:sp>
        <p:nvSpPr>
          <p:cNvPr id="184" name="Google Shape;184;p6"/>
          <p:cNvSpPr/>
          <p:nvPr/>
        </p:nvSpPr>
        <p:spPr>
          <a:xfrm>
            <a:off x="4390915" y="1419225"/>
            <a:ext cx="3419389" cy="5172075"/>
          </a:xfrm>
          <a:prstGeom prst="roundRect">
            <a:avLst>
              <a:gd fmla="val 6685"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6"/>
          <p:cNvSpPr/>
          <p:nvPr/>
        </p:nvSpPr>
        <p:spPr>
          <a:xfrm>
            <a:off x="5676758" y="1743075"/>
            <a:ext cx="838179" cy="904874"/>
          </a:xfrm>
          <a:prstGeom prst="roundRect">
            <a:avLst>
              <a:gd fmla="val 22725000"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6" name="Google Shape;186;p6"/>
          <p:cNvPicPr preferRelativeResize="0"/>
          <p:nvPr/>
        </p:nvPicPr>
        <p:blipFill rotWithShape="1">
          <a:blip r:embed="rId4">
            <a:alphaModFix/>
          </a:blip>
          <a:srcRect b="0" l="0" r="0" t="0"/>
          <a:stretch/>
        </p:blipFill>
        <p:spPr>
          <a:xfrm>
            <a:off x="5867253" y="2041859"/>
            <a:ext cx="457188" cy="240631"/>
          </a:xfrm>
          <a:prstGeom prst="rect">
            <a:avLst/>
          </a:prstGeom>
          <a:noFill/>
          <a:ln>
            <a:noFill/>
          </a:ln>
        </p:spPr>
      </p:pic>
      <p:sp>
        <p:nvSpPr>
          <p:cNvPr id="187" name="Google Shape;187;p6"/>
          <p:cNvSpPr txBox="1"/>
          <p:nvPr/>
        </p:nvSpPr>
        <p:spPr>
          <a:xfrm>
            <a:off x="4714757" y="2876549"/>
            <a:ext cx="2771705" cy="1114425"/>
          </a:xfrm>
          <a:prstGeom prst="rect">
            <a:avLst/>
          </a:prstGeom>
          <a:noFill/>
          <a:ln>
            <a:noFill/>
          </a:ln>
        </p:spPr>
        <p:txBody>
          <a:bodyPr anchorCtr="0" anchor="ctr" bIns="54850" lIns="73150" spcFirstLastPara="1" rIns="73150" wrap="square" tIns="54850">
            <a:spAutoFit/>
          </a:bodyPr>
          <a:lstStyle/>
          <a:p>
            <a:pPr indent="0" lvl="0" marL="0" marR="0" rtl="0" algn="ctr">
              <a:lnSpc>
                <a:spcPct val="163127"/>
              </a:lnSpc>
              <a:spcBef>
                <a:spcPts val="0"/>
              </a:spcBef>
              <a:spcAft>
                <a:spcPts val="0"/>
              </a:spcAft>
              <a:buNone/>
            </a:pPr>
            <a:r>
              <a:rPr b="1" i="0" lang="en-US" sz="1554" u="none" cap="none" strike="noStrike">
                <a:solidFill>
                  <a:srgbClr val="FFFFFF"/>
                </a:solidFill>
                <a:latin typeface="BioRhyme"/>
                <a:ea typeface="BioRhyme"/>
                <a:cs typeface="BioRhyme"/>
                <a:sym typeface="BioRhyme"/>
              </a:rPr>
              <a:t>AR Improves Functional Outcomes</a:t>
            </a:r>
            <a:endParaRPr/>
          </a:p>
        </p:txBody>
      </p:sp>
      <p:sp>
        <p:nvSpPr>
          <p:cNvPr id="188" name="Google Shape;188;p6"/>
          <p:cNvSpPr txBox="1"/>
          <p:nvPr/>
        </p:nvSpPr>
        <p:spPr>
          <a:xfrm>
            <a:off x="4710007" y="4041338"/>
            <a:ext cx="2771700" cy="1013700"/>
          </a:xfrm>
          <a:prstGeom prst="rect">
            <a:avLst/>
          </a:prstGeom>
          <a:noFill/>
          <a:ln>
            <a:noFill/>
          </a:ln>
        </p:spPr>
        <p:txBody>
          <a:bodyPr anchorCtr="0" anchor="ctr" bIns="54850" lIns="73150" spcFirstLastPara="1" rIns="73150" wrap="square" tIns="54850">
            <a:spAutoFit/>
          </a:bodyPr>
          <a:lstStyle/>
          <a:p>
            <a:pPr indent="0" lvl="0" marL="0" marR="0" rtl="0" algn="ctr">
              <a:lnSpc>
                <a:spcPct val="173003"/>
              </a:lnSpc>
              <a:spcBef>
                <a:spcPts val="0"/>
              </a:spcBef>
              <a:spcAft>
                <a:spcPts val="0"/>
              </a:spcAft>
              <a:buNone/>
            </a:pPr>
            <a:r>
              <a:rPr b="0" i="0" lang="en-US" sz="1315" u="none" cap="none" strike="noStrike">
                <a:solidFill>
                  <a:srgbClr val="D1D5DB"/>
                </a:solidFill>
                <a:latin typeface="Archivo"/>
                <a:ea typeface="Archivo"/>
                <a:cs typeface="Archivo"/>
                <a:sym typeface="Archivo"/>
              </a:rPr>
              <a:t> AR technology </a:t>
            </a:r>
            <a:r>
              <a:rPr b="1" i="0" lang="en-US" sz="1315" u="none" cap="none" strike="noStrike">
                <a:solidFill>
                  <a:srgbClr val="2DFF99"/>
                </a:solidFill>
                <a:latin typeface="Archivo"/>
                <a:ea typeface="Archivo"/>
                <a:cs typeface="Archivo"/>
                <a:sym typeface="Archivo"/>
              </a:rPr>
              <a:t>significantly improves</a:t>
            </a:r>
            <a:r>
              <a:rPr b="0" i="0" lang="en-US" sz="1315" u="none" cap="none" strike="noStrike">
                <a:solidFill>
                  <a:srgbClr val="D1D5DB"/>
                </a:solidFill>
                <a:latin typeface="Archivo"/>
                <a:ea typeface="Archivo"/>
                <a:cs typeface="Archivo"/>
                <a:sym typeface="Archivo"/>
              </a:rPr>
              <a:t> stroke functional rehabilitation outcomes </a:t>
            </a:r>
            <a:endParaRPr/>
          </a:p>
        </p:txBody>
      </p:sp>
      <p:sp>
        <p:nvSpPr>
          <p:cNvPr id="189" name="Google Shape;189;p6"/>
          <p:cNvSpPr txBox="1"/>
          <p:nvPr/>
        </p:nvSpPr>
        <p:spPr>
          <a:xfrm>
            <a:off x="4714757" y="5705475"/>
            <a:ext cx="2771705" cy="228600"/>
          </a:xfrm>
          <a:prstGeom prst="rect">
            <a:avLst/>
          </a:prstGeom>
          <a:noFill/>
          <a:ln>
            <a:noFill/>
          </a:ln>
        </p:spPr>
        <p:txBody>
          <a:bodyPr anchorCtr="0" anchor="ctr" bIns="54850" lIns="73150" spcFirstLastPara="1" rIns="73150" wrap="square" tIns="54850">
            <a:spAutoFit/>
          </a:bodyPr>
          <a:lstStyle/>
          <a:p>
            <a:pPr indent="0" lvl="0" marL="0" marR="0" rtl="0" algn="ctr">
              <a:lnSpc>
                <a:spcPct val="163179"/>
              </a:lnSpc>
              <a:spcBef>
                <a:spcPts val="0"/>
              </a:spcBef>
              <a:spcAft>
                <a:spcPts val="0"/>
              </a:spcAft>
              <a:buNone/>
            </a:pPr>
            <a:r>
              <a:rPr b="0" i="0" lang="en-US" sz="956" u="none" cap="none" strike="noStrike">
                <a:solidFill>
                  <a:srgbClr val="9CA3AF"/>
                </a:solidFill>
                <a:latin typeface="Archivo"/>
                <a:ea typeface="Archivo"/>
                <a:cs typeface="Archivo"/>
                <a:sym typeface="Archivo"/>
              </a:rPr>
              <a:t>Source</a:t>
            </a:r>
            <a:endParaRPr/>
          </a:p>
        </p:txBody>
      </p:sp>
      <p:sp>
        <p:nvSpPr>
          <p:cNvPr id="190" name="Google Shape;190;p6"/>
          <p:cNvSpPr txBox="1"/>
          <p:nvPr/>
        </p:nvSpPr>
        <p:spPr>
          <a:xfrm>
            <a:off x="4714757" y="6010274"/>
            <a:ext cx="2771705" cy="257175"/>
          </a:xfrm>
          <a:prstGeom prst="rect">
            <a:avLst/>
          </a:prstGeom>
          <a:noFill/>
          <a:ln>
            <a:noFill/>
          </a:ln>
        </p:spPr>
        <p:txBody>
          <a:bodyPr anchorCtr="0" anchor="ctr" bIns="54850" lIns="73150" spcFirstLastPara="1" rIns="73150" wrap="square" tIns="54850">
            <a:spAutoFit/>
          </a:bodyPr>
          <a:lstStyle/>
          <a:p>
            <a:pPr indent="0" lvl="0" marL="0" marR="0" rtl="0" algn="ctr">
              <a:lnSpc>
                <a:spcPct val="163104"/>
              </a:lnSpc>
              <a:spcBef>
                <a:spcPts val="0"/>
              </a:spcBef>
              <a:spcAft>
                <a:spcPts val="0"/>
              </a:spcAft>
              <a:buNone/>
            </a:pPr>
            <a:r>
              <a:rPr b="1" i="0" lang="en-US" sz="1076" u="none" cap="none" strike="noStrike">
                <a:solidFill>
                  <a:srgbClr val="FFFFFF"/>
                </a:solidFill>
                <a:latin typeface="Archivo"/>
                <a:ea typeface="Archivo"/>
                <a:cs typeface="Archivo"/>
                <a:sym typeface="Archivo"/>
              </a:rPr>
              <a:t>Wiley, 2024</a:t>
            </a:r>
            <a:endParaRPr/>
          </a:p>
        </p:txBody>
      </p:sp>
      <p:sp>
        <p:nvSpPr>
          <p:cNvPr id="191" name="Google Shape;191;p6"/>
          <p:cNvSpPr/>
          <p:nvPr/>
        </p:nvSpPr>
        <p:spPr>
          <a:xfrm>
            <a:off x="8105572" y="1419225"/>
            <a:ext cx="3419389" cy="5172075"/>
          </a:xfrm>
          <a:prstGeom prst="roundRect">
            <a:avLst>
              <a:gd fmla="val 6685" name="adj"/>
            </a:avLst>
          </a:prstGeom>
          <a:solidFill>
            <a:srgbClr val="FFFFFF">
              <a:alpha val="5098"/>
            </a:srgbClr>
          </a:solidFill>
          <a:ln cap="flat" cmpd="sng" w="16500">
            <a:solidFill>
              <a:srgbClr val="2DFF9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6"/>
          <p:cNvSpPr/>
          <p:nvPr/>
        </p:nvSpPr>
        <p:spPr>
          <a:xfrm>
            <a:off x="9400939" y="1743075"/>
            <a:ext cx="838179" cy="904874"/>
          </a:xfrm>
          <a:prstGeom prst="roundRect">
            <a:avLst>
              <a:gd fmla="val 22725000" name="adj"/>
            </a:avLst>
          </a:prstGeom>
          <a:solidFill>
            <a:srgbClr val="2DFF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93" name="Google Shape;193;p6"/>
          <p:cNvPicPr preferRelativeResize="0"/>
          <p:nvPr/>
        </p:nvPicPr>
        <p:blipFill rotWithShape="1">
          <a:blip r:embed="rId5">
            <a:alphaModFix/>
          </a:blip>
          <a:srcRect b="0" l="0" r="0" t="0"/>
          <a:stretch/>
        </p:blipFill>
        <p:spPr>
          <a:xfrm>
            <a:off x="9591435" y="2014788"/>
            <a:ext cx="457188" cy="294773"/>
          </a:xfrm>
          <a:prstGeom prst="rect">
            <a:avLst/>
          </a:prstGeom>
          <a:noFill/>
          <a:ln>
            <a:noFill/>
          </a:ln>
        </p:spPr>
      </p:pic>
      <p:sp>
        <p:nvSpPr>
          <p:cNvPr id="194" name="Google Shape;194;p6"/>
          <p:cNvSpPr txBox="1"/>
          <p:nvPr/>
        </p:nvSpPr>
        <p:spPr>
          <a:xfrm>
            <a:off x="8429414" y="2876549"/>
            <a:ext cx="2771705" cy="742950"/>
          </a:xfrm>
          <a:prstGeom prst="rect">
            <a:avLst/>
          </a:prstGeom>
          <a:noFill/>
          <a:ln>
            <a:noFill/>
          </a:ln>
        </p:spPr>
        <p:txBody>
          <a:bodyPr anchorCtr="0" anchor="ctr" bIns="54850" lIns="73150" spcFirstLastPara="1" rIns="73150" wrap="square" tIns="54850">
            <a:spAutoFit/>
          </a:bodyPr>
          <a:lstStyle/>
          <a:p>
            <a:pPr indent="0" lvl="0" marL="0" marR="0" rtl="0" algn="ctr">
              <a:lnSpc>
                <a:spcPct val="163127"/>
              </a:lnSpc>
              <a:spcBef>
                <a:spcPts val="0"/>
              </a:spcBef>
              <a:spcAft>
                <a:spcPts val="0"/>
              </a:spcAft>
              <a:buNone/>
            </a:pPr>
            <a:r>
              <a:rPr b="1" i="0" lang="en-US" sz="1554" u="none" cap="none" strike="noStrike">
                <a:solidFill>
                  <a:srgbClr val="FFFFFF"/>
                </a:solidFill>
                <a:latin typeface="BioRhyme"/>
                <a:ea typeface="BioRhyme"/>
                <a:cs typeface="BioRhyme"/>
                <a:sym typeface="BioRhyme"/>
              </a:rPr>
              <a:t>Visual Scanning Training</a:t>
            </a:r>
            <a:endParaRPr/>
          </a:p>
        </p:txBody>
      </p:sp>
      <p:sp>
        <p:nvSpPr>
          <p:cNvPr id="195" name="Google Shape;195;p6"/>
          <p:cNvSpPr txBox="1"/>
          <p:nvPr/>
        </p:nvSpPr>
        <p:spPr>
          <a:xfrm>
            <a:off x="8429414" y="4038599"/>
            <a:ext cx="2771700" cy="1019100"/>
          </a:xfrm>
          <a:prstGeom prst="rect">
            <a:avLst/>
          </a:prstGeom>
          <a:noFill/>
          <a:ln>
            <a:noFill/>
          </a:ln>
        </p:spPr>
        <p:txBody>
          <a:bodyPr anchorCtr="0" anchor="ctr" bIns="54850" lIns="73150" spcFirstLastPara="1" rIns="73150" wrap="square" tIns="54850">
            <a:spAutoFit/>
          </a:bodyPr>
          <a:lstStyle/>
          <a:p>
            <a:pPr indent="0" lvl="0" marL="0" marR="0" rtl="0" algn="ctr">
              <a:lnSpc>
                <a:spcPct val="173003"/>
              </a:lnSpc>
              <a:spcBef>
                <a:spcPts val="0"/>
              </a:spcBef>
              <a:spcAft>
                <a:spcPts val="0"/>
              </a:spcAft>
              <a:buNone/>
            </a:pPr>
            <a:r>
              <a:rPr b="0" i="0" lang="en-US" sz="1315" u="none" cap="none" strike="noStrike">
                <a:solidFill>
                  <a:srgbClr val="D1D5DB"/>
                </a:solidFill>
                <a:latin typeface="Archivo"/>
                <a:ea typeface="Archivo"/>
                <a:cs typeface="Archivo"/>
                <a:sym typeface="Archivo"/>
              </a:rPr>
              <a:t> Visual scanning training is </a:t>
            </a:r>
            <a:r>
              <a:rPr b="1" i="0" lang="en-US" sz="1315" u="none" cap="none" strike="noStrike">
                <a:solidFill>
                  <a:srgbClr val="2DFF99"/>
                </a:solidFill>
                <a:latin typeface="Archivo"/>
                <a:ea typeface="Archivo"/>
                <a:cs typeface="Archivo"/>
                <a:sym typeface="Archivo"/>
              </a:rPr>
              <a:t>effective for neglect treatment</a:t>
            </a:r>
            <a:r>
              <a:rPr b="0" i="0" lang="en-US" sz="1315" u="none" cap="none" strike="noStrike">
                <a:solidFill>
                  <a:srgbClr val="D1D5DB"/>
                </a:solidFill>
                <a:latin typeface="Archivo"/>
                <a:ea typeface="Archivo"/>
                <a:cs typeface="Archivo"/>
                <a:sym typeface="Archivo"/>
              </a:rPr>
              <a:t> </a:t>
            </a:r>
            <a:endParaRPr/>
          </a:p>
        </p:txBody>
      </p:sp>
      <p:sp>
        <p:nvSpPr>
          <p:cNvPr id="196" name="Google Shape;196;p6"/>
          <p:cNvSpPr txBox="1"/>
          <p:nvPr/>
        </p:nvSpPr>
        <p:spPr>
          <a:xfrm>
            <a:off x="8429414" y="5705475"/>
            <a:ext cx="2771705" cy="228600"/>
          </a:xfrm>
          <a:prstGeom prst="rect">
            <a:avLst/>
          </a:prstGeom>
          <a:noFill/>
          <a:ln>
            <a:noFill/>
          </a:ln>
        </p:spPr>
        <p:txBody>
          <a:bodyPr anchorCtr="0" anchor="ctr" bIns="54850" lIns="73150" spcFirstLastPara="1" rIns="73150" wrap="square" tIns="54850">
            <a:spAutoFit/>
          </a:bodyPr>
          <a:lstStyle/>
          <a:p>
            <a:pPr indent="0" lvl="0" marL="0" marR="0" rtl="0" algn="ctr">
              <a:lnSpc>
                <a:spcPct val="163179"/>
              </a:lnSpc>
              <a:spcBef>
                <a:spcPts val="0"/>
              </a:spcBef>
              <a:spcAft>
                <a:spcPts val="0"/>
              </a:spcAft>
              <a:buNone/>
            </a:pPr>
            <a:r>
              <a:rPr b="0" i="0" lang="en-US" sz="956" u="none" cap="none" strike="noStrike">
                <a:solidFill>
                  <a:srgbClr val="9CA3AF"/>
                </a:solidFill>
                <a:latin typeface="Archivo"/>
                <a:ea typeface="Archivo"/>
                <a:cs typeface="Archivo"/>
                <a:sym typeface="Archivo"/>
              </a:rPr>
              <a:t>Source</a:t>
            </a:r>
            <a:endParaRPr/>
          </a:p>
        </p:txBody>
      </p:sp>
      <p:sp>
        <p:nvSpPr>
          <p:cNvPr id="197" name="Google Shape;197;p6"/>
          <p:cNvSpPr txBox="1"/>
          <p:nvPr/>
        </p:nvSpPr>
        <p:spPr>
          <a:xfrm>
            <a:off x="8429414" y="6010274"/>
            <a:ext cx="2771705" cy="257175"/>
          </a:xfrm>
          <a:prstGeom prst="rect">
            <a:avLst/>
          </a:prstGeom>
          <a:noFill/>
          <a:ln>
            <a:noFill/>
          </a:ln>
        </p:spPr>
        <p:txBody>
          <a:bodyPr anchorCtr="0" anchor="ctr" bIns="54850" lIns="73150" spcFirstLastPara="1" rIns="73150" wrap="square" tIns="54850">
            <a:spAutoFit/>
          </a:bodyPr>
          <a:lstStyle/>
          <a:p>
            <a:pPr indent="0" lvl="0" marL="0" marR="0" rtl="0" algn="ctr">
              <a:lnSpc>
                <a:spcPct val="163104"/>
              </a:lnSpc>
              <a:spcBef>
                <a:spcPts val="0"/>
              </a:spcBef>
              <a:spcAft>
                <a:spcPts val="0"/>
              </a:spcAft>
              <a:buNone/>
            </a:pPr>
            <a:r>
              <a:rPr b="1" i="0" lang="en-US" sz="1076" u="none" cap="none" strike="noStrike">
                <a:solidFill>
                  <a:srgbClr val="FFFFFF"/>
                </a:solidFill>
                <a:latin typeface="Archivo"/>
                <a:ea typeface="Archivo"/>
                <a:cs typeface="Archivo"/>
                <a:sym typeface="Archivo"/>
              </a:rPr>
              <a:t>PMC, 2013</a:t>
            </a:r>
            <a:endParaRPr/>
          </a:p>
        </p:txBody>
      </p:sp>
      <p:sp>
        <p:nvSpPr>
          <p:cNvPr id="198" name="Google Shape;198;p6"/>
          <p:cNvSpPr/>
          <p:nvPr/>
        </p:nvSpPr>
        <p:spPr>
          <a:xfrm>
            <a:off x="0" y="7200900"/>
            <a:ext cx="12191695" cy="38100"/>
          </a:xfrm>
          <a:prstGeom prst="rect">
            <a:avLst/>
          </a:prstGeom>
          <a:gradFill>
            <a:gsLst>
              <a:gs pos="0">
                <a:srgbClr val="000000">
                  <a:alpha val="0"/>
                </a:srgbClr>
              </a:gs>
              <a:gs pos="50000">
                <a:srgbClr val="2DFF99"/>
              </a:gs>
              <a:gs pos="100000">
                <a:srgbClr val="000000">
                  <a:alpha val="0"/>
                </a:srgbClr>
              </a:gs>
            </a:gsLst>
            <a:lin ang="108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3328"/>
        </a:solidFill>
      </p:bgPr>
    </p:bg>
    <p:spTree>
      <p:nvGrpSpPr>
        <p:cNvPr id="202" name="Shape 202"/>
        <p:cNvGrpSpPr/>
        <p:nvPr/>
      </p:nvGrpSpPr>
      <p:grpSpPr>
        <a:xfrm>
          <a:off x="0" y="0"/>
          <a:ext cx="0" cy="0"/>
          <a:chOff x="0" y="0"/>
          <a:chExt cx="0" cy="0"/>
        </a:xfrm>
      </p:grpSpPr>
      <p:sp>
        <p:nvSpPr>
          <p:cNvPr id="203" name="Google Shape;203;g3cde6623f9b_0_66"/>
          <p:cNvSpPr txBox="1"/>
          <p:nvPr/>
        </p:nvSpPr>
        <p:spPr>
          <a:xfrm>
            <a:off x="666718" y="114300"/>
            <a:ext cx="8248500" cy="580200"/>
          </a:xfrm>
          <a:prstGeom prst="rect">
            <a:avLst/>
          </a:prstGeom>
          <a:noFill/>
          <a:ln>
            <a:noFill/>
          </a:ln>
        </p:spPr>
        <p:txBody>
          <a:bodyPr anchorCtr="0" anchor="ctr" bIns="54850" lIns="73150" spcFirstLastPara="1" rIns="73150" wrap="square" tIns="54850">
            <a:spAutoFit/>
          </a:bodyPr>
          <a:lstStyle/>
          <a:p>
            <a:pPr indent="0" lvl="0" marL="0" marR="0" rtl="0" algn="l">
              <a:lnSpc>
                <a:spcPct val="163043"/>
              </a:lnSpc>
              <a:spcBef>
                <a:spcPts val="0"/>
              </a:spcBef>
              <a:spcAft>
                <a:spcPts val="0"/>
              </a:spcAft>
              <a:buNone/>
            </a:pPr>
            <a:r>
              <a:rPr b="1" i="0" lang="en-US" sz="3050" u="none" cap="none" strike="noStrike">
                <a:solidFill>
                  <a:srgbClr val="FFFFFF"/>
                </a:solidFill>
                <a:latin typeface="BioRhyme"/>
                <a:ea typeface="BioRhyme"/>
                <a:cs typeface="BioRhyme"/>
                <a:sym typeface="BioRhyme"/>
              </a:rPr>
              <a:t> Expanding the </a:t>
            </a:r>
            <a:r>
              <a:rPr b="1" i="0" lang="en-US" sz="3050" u="none" cap="none" strike="noStrike">
                <a:solidFill>
                  <a:srgbClr val="2DFF99"/>
                </a:solidFill>
                <a:latin typeface="BioRhyme"/>
                <a:ea typeface="BioRhyme"/>
                <a:cs typeface="BioRhyme"/>
                <a:sym typeface="BioRhyme"/>
              </a:rPr>
              <a:t>Impact</a:t>
            </a:r>
            <a:r>
              <a:rPr b="1" i="0" lang="en-US" sz="3050" u="none" cap="none" strike="noStrike">
                <a:solidFill>
                  <a:srgbClr val="FFFFFF"/>
                </a:solidFill>
                <a:latin typeface="BioRhyme"/>
                <a:ea typeface="BioRhyme"/>
                <a:cs typeface="BioRhyme"/>
                <a:sym typeface="BioRhyme"/>
              </a:rPr>
              <a:t> </a:t>
            </a:r>
            <a:endParaRPr sz="3050"/>
          </a:p>
        </p:txBody>
      </p:sp>
      <p:sp>
        <p:nvSpPr>
          <p:cNvPr id="204" name="Google Shape;204;g3cde6623f9b_0_66"/>
          <p:cNvSpPr/>
          <p:nvPr/>
        </p:nvSpPr>
        <p:spPr>
          <a:xfrm>
            <a:off x="4171845" y="1190625"/>
            <a:ext cx="3848100" cy="533400"/>
          </a:xfrm>
          <a:prstGeom prst="roundRect">
            <a:avLst>
              <a:gd fmla="val 35710714" name="adj"/>
            </a:avLst>
          </a:prstGeom>
          <a:solidFill>
            <a:srgbClr val="2DFF99"/>
          </a:solidFill>
          <a:ln cap="flat" cmpd="sng" w="9525">
            <a:solidFill>
              <a:srgbClr val="E5E7E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5" name="Google Shape;205;g3cde6623f9b_0_66"/>
          <p:cNvPicPr preferRelativeResize="0"/>
          <p:nvPr/>
        </p:nvPicPr>
        <p:blipFill rotWithShape="1">
          <a:blip r:embed="rId3">
            <a:alphaModFix/>
          </a:blip>
          <a:srcRect b="0" l="0" r="0" t="0"/>
          <a:stretch/>
        </p:blipFill>
        <p:spPr>
          <a:xfrm>
            <a:off x="4409964" y="1345882"/>
            <a:ext cx="228594" cy="222884"/>
          </a:xfrm>
          <a:prstGeom prst="rect">
            <a:avLst/>
          </a:prstGeom>
          <a:noFill/>
          <a:ln>
            <a:noFill/>
          </a:ln>
        </p:spPr>
      </p:pic>
      <p:sp>
        <p:nvSpPr>
          <p:cNvPr id="206" name="Google Shape;206;g3cde6623f9b_0_66"/>
          <p:cNvSpPr txBox="1"/>
          <p:nvPr/>
        </p:nvSpPr>
        <p:spPr>
          <a:xfrm>
            <a:off x="4752856" y="1314450"/>
            <a:ext cx="3028800" cy="294900"/>
          </a:xfrm>
          <a:prstGeom prst="rect">
            <a:avLst/>
          </a:prstGeom>
          <a:noFill/>
          <a:ln>
            <a:noFill/>
          </a:ln>
        </p:spPr>
        <p:txBody>
          <a:bodyPr anchorCtr="0" anchor="ctr" bIns="54850" lIns="73150" spcFirstLastPara="1" rIns="73150" wrap="square" tIns="54850">
            <a:spAutoFit/>
          </a:bodyPr>
          <a:lstStyle/>
          <a:p>
            <a:pPr indent="0" lvl="0" marL="0" marR="0" rtl="0" algn="ctr">
              <a:lnSpc>
                <a:spcPct val="163043"/>
              </a:lnSpc>
              <a:spcBef>
                <a:spcPts val="0"/>
              </a:spcBef>
              <a:spcAft>
                <a:spcPts val="0"/>
              </a:spcAft>
              <a:buNone/>
            </a:pPr>
            <a:r>
              <a:rPr i="0" lang="en-US" sz="1196" u="none" cap="none" strike="noStrike">
                <a:solidFill>
                  <a:srgbClr val="183328"/>
                </a:solidFill>
                <a:latin typeface="Archivo"/>
                <a:ea typeface="Archivo"/>
                <a:cs typeface="Archivo"/>
                <a:sym typeface="Archivo"/>
              </a:rPr>
              <a:t> One System</a:t>
            </a:r>
            <a:r>
              <a:rPr lang="en-US" sz="1196">
                <a:solidFill>
                  <a:srgbClr val="183328"/>
                </a:solidFill>
                <a:latin typeface="Archivo"/>
                <a:ea typeface="Archivo"/>
                <a:cs typeface="Archivo"/>
                <a:sym typeface="Archivo"/>
              </a:rPr>
              <a:t>,</a:t>
            </a:r>
            <a:r>
              <a:rPr i="0" lang="en-US" sz="1196" u="none" cap="none" strike="noStrike">
                <a:solidFill>
                  <a:srgbClr val="183328"/>
                </a:solidFill>
                <a:latin typeface="Archivo"/>
                <a:ea typeface="Archivo"/>
                <a:cs typeface="Archivo"/>
                <a:sym typeface="Archivo"/>
              </a:rPr>
              <a:t> Multiple Conditions </a:t>
            </a:r>
            <a:endParaRPr>
              <a:solidFill>
                <a:srgbClr val="183328"/>
              </a:solidFill>
            </a:endParaRPr>
          </a:p>
        </p:txBody>
      </p:sp>
      <p:sp>
        <p:nvSpPr>
          <p:cNvPr id="207" name="Google Shape;207;g3cde6623f9b_0_66"/>
          <p:cNvSpPr/>
          <p:nvPr/>
        </p:nvSpPr>
        <p:spPr>
          <a:xfrm>
            <a:off x="666733" y="2028825"/>
            <a:ext cx="3495600" cy="1952700"/>
          </a:xfrm>
          <a:prstGeom prst="roundRect">
            <a:avLst>
              <a:gd fmla="val 11707" name="adj"/>
            </a:avLst>
          </a:prstGeom>
          <a:solidFill>
            <a:srgbClr val="FFFFFF">
              <a:alpha val="5100"/>
            </a:srgbClr>
          </a:solidFill>
          <a:ln cap="flat" cmpd="sng" w="16500">
            <a:solidFill>
              <a:srgbClr val="2DFF9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8" name="Google Shape;208;g3cde6623f9b_0_66"/>
          <p:cNvPicPr preferRelativeResize="0"/>
          <p:nvPr/>
        </p:nvPicPr>
        <p:blipFill rotWithShape="1">
          <a:blip r:embed="rId4">
            <a:alphaModFix/>
          </a:blip>
          <a:srcRect b="0" l="0" r="0" t="0"/>
          <a:stretch/>
        </p:blipFill>
        <p:spPr>
          <a:xfrm>
            <a:off x="876278" y="2269880"/>
            <a:ext cx="304792" cy="260838"/>
          </a:xfrm>
          <a:prstGeom prst="rect">
            <a:avLst/>
          </a:prstGeom>
          <a:noFill/>
          <a:ln>
            <a:noFill/>
          </a:ln>
        </p:spPr>
      </p:pic>
      <p:sp>
        <p:nvSpPr>
          <p:cNvPr id="209" name="Google Shape;209;g3cde6623f9b_0_66"/>
          <p:cNvSpPr txBox="1"/>
          <p:nvPr/>
        </p:nvSpPr>
        <p:spPr>
          <a:xfrm>
            <a:off x="1295377" y="2238375"/>
            <a:ext cx="2022600" cy="341700"/>
          </a:xfrm>
          <a:prstGeom prst="rect">
            <a:avLst/>
          </a:prstGeom>
          <a:noFill/>
          <a:ln>
            <a:noFill/>
          </a:ln>
        </p:spPr>
        <p:txBody>
          <a:bodyPr anchorCtr="0" anchor="ctr" bIns="54850" lIns="73150" spcFirstLastPara="1" rIns="73150" wrap="square" tIns="54850">
            <a:spAutoFit/>
          </a:bodyPr>
          <a:lstStyle/>
          <a:p>
            <a:pPr indent="0" lvl="0" marL="0" marR="0" rtl="0" algn="l">
              <a:lnSpc>
                <a:spcPct val="163117"/>
              </a:lnSpc>
              <a:spcBef>
                <a:spcPts val="0"/>
              </a:spcBef>
              <a:spcAft>
                <a:spcPts val="0"/>
              </a:spcAft>
              <a:buNone/>
            </a:pPr>
            <a:r>
              <a:rPr b="1" i="0" lang="en-US" sz="1500" u="none" cap="none" strike="noStrike">
                <a:solidFill>
                  <a:srgbClr val="FFFFFF"/>
                </a:solidFill>
                <a:latin typeface="BioRhyme"/>
                <a:ea typeface="BioRhyme"/>
                <a:cs typeface="BioRhyme"/>
                <a:sym typeface="BioRhyme"/>
              </a:rPr>
              <a:t>Stroke-Related</a:t>
            </a:r>
            <a:endParaRPr sz="1500"/>
          </a:p>
        </p:txBody>
      </p:sp>
      <p:sp>
        <p:nvSpPr>
          <p:cNvPr id="210" name="Google Shape;210;g3cde6623f9b_0_66"/>
          <p:cNvSpPr txBox="1"/>
          <p:nvPr/>
        </p:nvSpPr>
        <p:spPr>
          <a:xfrm>
            <a:off x="876278" y="2667000"/>
            <a:ext cx="3076500" cy="2877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0" u="none" cap="none" strike="noStrike">
                <a:solidFill>
                  <a:srgbClr val="D1D5DB"/>
                </a:solidFill>
                <a:latin typeface="Archivo"/>
                <a:ea typeface="Archivo"/>
                <a:cs typeface="Archivo"/>
                <a:sym typeface="Archivo"/>
              </a:rPr>
              <a:t>• </a:t>
            </a:r>
            <a:r>
              <a:rPr b="1" i="0" lang="en-US" sz="1150" u="none" cap="none" strike="noStrike">
                <a:solidFill>
                  <a:srgbClr val="2DFF99"/>
                </a:solidFill>
                <a:latin typeface="Archivo"/>
                <a:ea typeface="Archivo"/>
                <a:cs typeface="Archivo"/>
                <a:sym typeface="Archivo"/>
              </a:rPr>
              <a:t>Learned Non-Use</a:t>
            </a:r>
            <a:endParaRPr sz="1150"/>
          </a:p>
        </p:txBody>
      </p:sp>
      <p:sp>
        <p:nvSpPr>
          <p:cNvPr id="211" name="Google Shape;211;g3cde6623f9b_0_66"/>
          <p:cNvSpPr txBox="1"/>
          <p:nvPr/>
        </p:nvSpPr>
        <p:spPr>
          <a:xfrm>
            <a:off x="876278" y="2952750"/>
            <a:ext cx="3076500" cy="2877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0" u="none" cap="none" strike="noStrike">
                <a:solidFill>
                  <a:srgbClr val="D1D5DB"/>
                </a:solidFill>
                <a:latin typeface="Archivo"/>
                <a:ea typeface="Archivo"/>
                <a:cs typeface="Archivo"/>
                <a:sym typeface="Archivo"/>
              </a:rPr>
              <a:t>• </a:t>
            </a:r>
            <a:r>
              <a:rPr b="1" i="0" lang="en-US" sz="1150" u="none" cap="none" strike="noStrike">
                <a:solidFill>
                  <a:srgbClr val="2DFF99"/>
                </a:solidFill>
                <a:latin typeface="Archivo"/>
                <a:ea typeface="Archivo"/>
                <a:cs typeface="Archivo"/>
                <a:sym typeface="Archivo"/>
              </a:rPr>
              <a:t>Hemiplegia/Hemiparesis</a:t>
            </a:r>
            <a:endParaRPr sz="1150"/>
          </a:p>
        </p:txBody>
      </p:sp>
      <p:sp>
        <p:nvSpPr>
          <p:cNvPr id="212" name="Google Shape;212;g3cde6623f9b_0_66"/>
          <p:cNvSpPr txBox="1"/>
          <p:nvPr/>
        </p:nvSpPr>
        <p:spPr>
          <a:xfrm>
            <a:off x="876278" y="3238500"/>
            <a:ext cx="3076500" cy="2877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0" u="none" cap="none" strike="noStrike">
                <a:solidFill>
                  <a:srgbClr val="D1D5DB"/>
                </a:solidFill>
                <a:latin typeface="Archivo"/>
                <a:ea typeface="Archivo"/>
                <a:cs typeface="Archivo"/>
                <a:sym typeface="Archivo"/>
              </a:rPr>
              <a:t>• </a:t>
            </a:r>
            <a:r>
              <a:rPr b="1" i="0" lang="en-US" sz="1150" u="none" cap="none" strike="noStrike">
                <a:solidFill>
                  <a:srgbClr val="2DFF99"/>
                </a:solidFill>
                <a:latin typeface="Archivo"/>
                <a:ea typeface="Archivo"/>
                <a:cs typeface="Archivo"/>
                <a:sym typeface="Archivo"/>
              </a:rPr>
              <a:t>Pusher Syndrome</a:t>
            </a:r>
            <a:endParaRPr sz="1150"/>
          </a:p>
        </p:txBody>
      </p:sp>
      <p:sp>
        <p:nvSpPr>
          <p:cNvPr id="213" name="Google Shape;213;g3cde6623f9b_0_66"/>
          <p:cNvSpPr txBox="1"/>
          <p:nvPr/>
        </p:nvSpPr>
        <p:spPr>
          <a:xfrm>
            <a:off x="876278" y="3524250"/>
            <a:ext cx="3076500" cy="2877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0" u="none" cap="none" strike="noStrike">
                <a:solidFill>
                  <a:srgbClr val="D1D5DB"/>
                </a:solidFill>
                <a:latin typeface="Archivo"/>
                <a:ea typeface="Archivo"/>
                <a:cs typeface="Archivo"/>
                <a:sym typeface="Archivo"/>
              </a:rPr>
              <a:t>• Hemispatial Neglect</a:t>
            </a:r>
            <a:endParaRPr sz="1150"/>
          </a:p>
        </p:txBody>
      </p:sp>
      <p:sp>
        <p:nvSpPr>
          <p:cNvPr id="214" name="Google Shape;214;g3cde6623f9b_0_66"/>
          <p:cNvSpPr/>
          <p:nvPr/>
        </p:nvSpPr>
        <p:spPr>
          <a:xfrm>
            <a:off x="4352816" y="2028825"/>
            <a:ext cx="3495600" cy="1952700"/>
          </a:xfrm>
          <a:prstGeom prst="roundRect">
            <a:avLst>
              <a:gd fmla="val 11707" name="adj"/>
            </a:avLst>
          </a:prstGeom>
          <a:solidFill>
            <a:srgbClr val="FFFFFF">
              <a:alpha val="5100"/>
            </a:srgbClr>
          </a:solidFill>
          <a:ln cap="flat" cmpd="sng" w="16500">
            <a:solidFill>
              <a:srgbClr val="2DFF9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5" name="Google Shape;215;g3cde6623f9b_0_66"/>
          <p:cNvPicPr preferRelativeResize="0"/>
          <p:nvPr/>
        </p:nvPicPr>
        <p:blipFill rotWithShape="1">
          <a:blip r:embed="rId5">
            <a:alphaModFix/>
          </a:blip>
          <a:srcRect b="0" l="0" r="0" t="0"/>
          <a:stretch/>
        </p:blipFill>
        <p:spPr>
          <a:xfrm>
            <a:off x="4562360" y="2283069"/>
            <a:ext cx="304792" cy="234461"/>
          </a:xfrm>
          <a:prstGeom prst="rect">
            <a:avLst/>
          </a:prstGeom>
          <a:noFill/>
          <a:ln>
            <a:noFill/>
          </a:ln>
        </p:spPr>
      </p:pic>
      <p:sp>
        <p:nvSpPr>
          <p:cNvPr id="216" name="Google Shape;216;g3cde6623f9b_0_66"/>
          <p:cNvSpPr txBox="1"/>
          <p:nvPr/>
        </p:nvSpPr>
        <p:spPr>
          <a:xfrm>
            <a:off x="4981450" y="2238375"/>
            <a:ext cx="2105100" cy="341700"/>
          </a:xfrm>
          <a:prstGeom prst="rect">
            <a:avLst/>
          </a:prstGeom>
          <a:noFill/>
          <a:ln>
            <a:noFill/>
          </a:ln>
        </p:spPr>
        <p:txBody>
          <a:bodyPr anchorCtr="0" anchor="ctr" bIns="54850" lIns="73150" spcFirstLastPara="1" rIns="73150" wrap="square" tIns="54850">
            <a:spAutoFit/>
          </a:bodyPr>
          <a:lstStyle/>
          <a:p>
            <a:pPr indent="0" lvl="0" marL="0" marR="0" rtl="0" algn="l">
              <a:lnSpc>
                <a:spcPct val="163117"/>
              </a:lnSpc>
              <a:spcBef>
                <a:spcPts val="0"/>
              </a:spcBef>
              <a:spcAft>
                <a:spcPts val="0"/>
              </a:spcAft>
              <a:buNone/>
            </a:pPr>
            <a:r>
              <a:rPr b="1" i="0" lang="en-US" sz="1500" u="none" cap="none" strike="noStrike">
                <a:solidFill>
                  <a:srgbClr val="FFFFFF"/>
                </a:solidFill>
                <a:latin typeface="BioRhyme"/>
                <a:ea typeface="BioRhyme"/>
                <a:cs typeface="BioRhyme"/>
                <a:sym typeface="BioRhyme"/>
              </a:rPr>
              <a:t>Neurodegenerative</a:t>
            </a:r>
            <a:endParaRPr sz="1500"/>
          </a:p>
        </p:txBody>
      </p:sp>
      <p:sp>
        <p:nvSpPr>
          <p:cNvPr id="217" name="Google Shape;217;g3cde6623f9b_0_66"/>
          <p:cNvSpPr txBox="1"/>
          <p:nvPr/>
        </p:nvSpPr>
        <p:spPr>
          <a:xfrm>
            <a:off x="4562360" y="2667000"/>
            <a:ext cx="3076500" cy="2877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0" u="none" cap="none" strike="noStrike">
                <a:solidFill>
                  <a:srgbClr val="D1D5DB"/>
                </a:solidFill>
                <a:latin typeface="Archivo"/>
                <a:ea typeface="Archivo"/>
                <a:cs typeface="Archivo"/>
                <a:sym typeface="Archivo"/>
              </a:rPr>
              <a:t>• </a:t>
            </a:r>
            <a:r>
              <a:rPr b="1" i="0" lang="en-US" sz="1150" u="none" cap="none" strike="noStrike">
                <a:solidFill>
                  <a:srgbClr val="2DFF99"/>
                </a:solidFill>
                <a:latin typeface="Archivo"/>
                <a:ea typeface="Archivo"/>
                <a:cs typeface="Archivo"/>
                <a:sym typeface="Archivo"/>
              </a:rPr>
              <a:t>Parkinson's Disease</a:t>
            </a:r>
            <a:endParaRPr sz="1150"/>
          </a:p>
        </p:txBody>
      </p:sp>
      <p:sp>
        <p:nvSpPr>
          <p:cNvPr id="218" name="Google Shape;218;g3cde6623f9b_0_66"/>
          <p:cNvSpPr txBox="1"/>
          <p:nvPr/>
        </p:nvSpPr>
        <p:spPr>
          <a:xfrm>
            <a:off x="4562360" y="2952750"/>
            <a:ext cx="3076500" cy="2877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0" u="none" cap="none" strike="noStrike">
                <a:solidFill>
                  <a:srgbClr val="D1D5DB"/>
                </a:solidFill>
                <a:latin typeface="Archivo"/>
                <a:ea typeface="Archivo"/>
                <a:cs typeface="Archivo"/>
                <a:sym typeface="Archivo"/>
              </a:rPr>
              <a:t>• Multiple Sclerosis</a:t>
            </a:r>
            <a:endParaRPr sz="1150"/>
          </a:p>
        </p:txBody>
      </p:sp>
      <p:sp>
        <p:nvSpPr>
          <p:cNvPr id="219" name="Google Shape;219;g3cde6623f9b_0_66"/>
          <p:cNvSpPr txBox="1"/>
          <p:nvPr/>
        </p:nvSpPr>
        <p:spPr>
          <a:xfrm>
            <a:off x="4562360" y="3238500"/>
            <a:ext cx="3076500" cy="2877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0" u="none" cap="none" strike="noStrike">
                <a:solidFill>
                  <a:srgbClr val="D1D5DB"/>
                </a:solidFill>
                <a:latin typeface="Archivo"/>
                <a:ea typeface="Archivo"/>
                <a:cs typeface="Archivo"/>
                <a:sym typeface="Archivo"/>
              </a:rPr>
              <a:t>• Huntington's Disease</a:t>
            </a:r>
            <a:endParaRPr sz="1150"/>
          </a:p>
        </p:txBody>
      </p:sp>
      <p:sp>
        <p:nvSpPr>
          <p:cNvPr id="220" name="Google Shape;220;g3cde6623f9b_0_66"/>
          <p:cNvSpPr txBox="1"/>
          <p:nvPr/>
        </p:nvSpPr>
        <p:spPr>
          <a:xfrm>
            <a:off x="4562360" y="3524250"/>
            <a:ext cx="3076500" cy="2877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0" u="none" cap="none" strike="noStrike">
                <a:solidFill>
                  <a:srgbClr val="D1D5DB"/>
                </a:solidFill>
                <a:latin typeface="Archivo"/>
                <a:ea typeface="Archivo"/>
                <a:cs typeface="Archivo"/>
                <a:sym typeface="Archivo"/>
              </a:rPr>
              <a:t>• Cerebellar Ataxia</a:t>
            </a:r>
            <a:endParaRPr sz="1150"/>
          </a:p>
        </p:txBody>
      </p:sp>
      <p:sp>
        <p:nvSpPr>
          <p:cNvPr id="221" name="Google Shape;221;g3cde6623f9b_0_66"/>
          <p:cNvSpPr/>
          <p:nvPr/>
        </p:nvSpPr>
        <p:spPr>
          <a:xfrm>
            <a:off x="7965324" y="2011714"/>
            <a:ext cx="3495600" cy="1952700"/>
          </a:xfrm>
          <a:prstGeom prst="roundRect">
            <a:avLst>
              <a:gd fmla="val 11707" name="adj"/>
            </a:avLst>
          </a:prstGeom>
          <a:solidFill>
            <a:srgbClr val="FFFFFF">
              <a:alpha val="5100"/>
            </a:srgbClr>
          </a:solidFill>
          <a:ln cap="flat" cmpd="sng" w="16500">
            <a:solidFill>
              <a:srgbClr val="2DFF9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2" name="Google Shape;222;g3cde6623f9b_0_66"/>
          <p:cNvPicPr preferRelativeResize="0"/>
          <p:nvPr/>
        </p:nvPicPr>
        <p:blipFill rotWithShape="1">
          <a:blip r:embed="rId6">
            <a:alphaModFix/>
          </a:blip>
          <a:srcRect b="0" l="0" r="0" t="0"/>
          <a:stretch/>
        </p:blipFill>
        <p:spPr>
          <a:xfrm>
            <a:off x="8238919" y="2283069"/>
            <a:ext cx="304792" cy="234461"/>
          </a:xfrm>
          <a:prstGeom prst="rect">
            <a:avLst/>
          </a:prstGeom>
          <a:noFill/>
          <a:ln>
            <a:noFill/>
          </a:ln>
        </p:spPr>
      </p:pic>
      <p:sp>
        <p:nvSpPr>
          <p:cNvPr id="223" name="Google Shape;223;g3cde6623f9b_0_66"/>
          <p:cNvSpPr txBox="1"/>
          <p:nvPr/>
        </p:nvSpPr>
        <p:spPr>
          <a:xfrm>
            <a:off x="8677818" y="2238375"/>
            <a:ext cx="1735500" cy="344100"/>
          </a:xfrm>
          <a:prstGeom prst="rect">
            <a:avLst/>
          </a:prstGeom>
          <a:noFill/>
          <a:ln>
            <a:noFill/>
          </a:ln>
        </p:spPr>
        <p:txBody>
          <a:bodyPr anchorCtr="0" anchor="ctr" bIns="54850" lIns="73150" spcFirstLastPara="1" rIns="73150" wrap="square" tIns="54850">
            <a:spAutoFit/>
          </a:bodyPr>
          <a:lstStyle/>
          <a:p>
            <a:pPr indent="0" lvl="0" marL="0" marR="0" rtl="0" algn="l">
              <a:lnSpc>
                <a:spcPct val="163117"/>
              </a:lnSpc>
              <a:spcBef>
                <a:spcPts val="0"/>
              </a:spcBef>
              <a:spcAft>
                <a:spcPts val="0"/>
              </a:spcAft>
              <a:buNone/>
            </a:pPr>
            <a:r>
              <a:rPr b="1" i="0" lang="en-US" sz="1515" u="none" cap="none" strike="noStrike">
                <a:solidFill>
                  <a:srgbClr val="FFFFFF"/>
                </a:solidFill>
                <a:latin typeface="BioRhyme"/>
                <a:ea typeface="BioRhyme"/>
                <a:cs typeface="BioRhyme"/>
                <a:sym typeface="BioRhyme"/>
              </a:rPr>
              <a:t>Developmental</a:t>
            </a:r>
            <a:endParaRPr sz="1600"/>
          </a:p>
        </p:txBody>
      </p:sp>
      <p:sp>
        <p:nvSpPr>
          <p:cNvPr id="224" name="Google Shape;224;g3cde6623f9b_0_66"/>
          <p:cNvSpPr txBox="1"/>
          <p:nvPr/>
        </p:nvSpPr>
        <p:spPr>
          <a:xfrm>
            <a:off x="8238925" y="2667000"/>
            <a:ext cx="32220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6" u="none" cap="none" strike="noStrike">
                <a:solidFill>
                  <a:srgbClr val="D1D5DB"/>
                </a:solidFill>
                <a:latin typeface="Archivo"/>
                <a:ea typeface="Archivo"/>
                <a:cs typeface="Archivo"/>
                <a:sym typeface="Archivo"/>
              </a:rPr>
              <a:t>• </a:t>
            </a:r>
            <a:r>
              <a:rPr b="1" i="0" lang="en-US" sz="1156" u="none" cap="none" strike="noStrike">
                <a:solidFill>
                  <a:srgbClr val="2DFF99"/>
                </a:solidFill>
                <a:latin typeface="Archivo"/>
                <a:ea typeface="Archivo"/>
                <a:cs typeface="Archivo"/>
                <a:sym typeface="Archivo"/>
              </a:rPr>
              <a:t>Cerebral Palsy</a:t>
            </a:r>
            <a:endParaRPr sz="1600"/>
          </a:p>
        </p:txBody>
      </p:sp>
      <p:sp>
        <p:nvSpPr>
          <p:cNvPr id="225" name="Google Shape;225;g3cde6623f9b_0_66"/>
          <p:cNvSpPr txBox="1"/>
          <p:nvPr/>
        </p:nvSpPr>
        <p:spPr>
          <a:xfrm>
            <a:off x="8238925" y="2952750"/>
            <a:ext cx="32220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6" u="none" cap="none" strike="noStrike">
                <a:solidFill>
                  <a:srgbClr val="D1D5DB"/>
                </a:solidFill>
                <a:latin typeface="Archivo"/>
                <a:ea typeface="Archivo"/>
                <a:cs typeface="Archivo"/>
                <a:sym typeface="Archivo"/>
              </a:rPr>
              <a:t>• Developmental Coordination Disorder</a:t>
            </a:r>
            <a:endParaRPr sz="1600"/>
          </a:p>
        </p:txBody>
      </p:sp>
      <p:sp>
        <p:nvSpPr>
          <p:cNvPr id="226" name="Google Shape;226;g3cde6623f9b_0_66"/>
          <p:cNvSpPr txBox="1"/>
          <p:nvPr/>
        </p:nvSpPr>
        <p:spPr>
          <a:xfrm>
            <a:off x="8238925" y="3238500"/>
            <a:ext cx="32220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76778"/>
              </a:lnSpc>
              <a:spcBef>
                <a:spcPts val="0"/>
              </a:spcBef>
              <a:spcAft>
                <a:spcPts val="0"/>
              </a:spcAft>
              <a:buNone/>
            </a:pPr>
            <a:r>
              <a:rPr b="0" i="0" lang="en-US" sz="1156" u="none" cap="none" strike="noStrike">
                <a:solidFill>
                  <a:srgbClr val="D1D5DB"/>
                </a:solidFill>
                <a:latin typeface="Archivo"/>
                <a:ea typeface="Archivo"/>
                <a:cs typeface="Archivo"/>
                <a:sym typeface="Archivo"/>
              </a:rPr>
              <a:t>• Dyspraxia</a:t>
            </a:r>
            <a:endParaRPr sz="1600"/>
          </a:p>
        </p:txBody>
      </p:sp>
      <p:sp>
        <p:nvSpPr>
          <p:cNvPr id="227" name="Google Shape;227;g3cde6623f9b_0_66"/>
          <p:cNvSpPr/>
          <p:nvPr/>
        </p:nvSpPr>
        <p:spPr>
          <a:xfrm>
            <a:off x="666733" y="4171950"/>
            <a:ext cx="5334000" cy="1343100"/>
          </a:xfrm>
          <a:prstGeom prst="roundRect">
            <a:avLst>
              <a:gd fmla="val 17021" name="adj"/>
            </a:avLst>
          </a:prstGeom>
          <a:solidFill>
            <a:srgbClr val="FFFFFF">
              <a:alpha val="5100"/>
            </a:srgbClr>
          </a:solidFill>
          <a:ln cap="flat" cmpd="sng" w="16500">
            <a:solidFill>
              <a:srgbClr val="2DFF9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8" name="Google Shape;228;g3cde6623f9b_0_66"/>
          <p:cNvPicPr preferRelativeResize="0"/>
          <p:nvPr/>
        </p:nvPicPr>
        <p:blipFill rotWithShape="1">
          <a:blip r:embed="rId7">
            <a:alphaModFix/>
          </a:blip>
          <a:srcRect b="0" l="0" r="0" t="0"/>
          <a:stretch/>
        </p:blipFill>
        <p:spPr>
          <a:xfrm>
            <a:off x="876278" y="4437184"/>
            <a:ext cx="304792" cy="193430"/>
          </a:xfrm>
          <a:prstGeom prst="rect">
            <a:avLst/>
          </a:prstGeom>
          <a:noFill/>
          <a:ln>
            <a:noFill/>
          </a:ln>
        </p:spPr>
      </p:pic>
      <p:sp>
        <p:nvSpPr>
          <p:cNvPr id="229" name="Google Shape;229;g3cde6623f9b_0_66"/>
          <p:cNvSpPr txBox="1"/>
          <p:nvPr/>
        </p:nvSpPr>
        <p:spPr>
          <a:xfrm>
            <a:off x="1295367" y="4381499"/>
            <a:ext cx="2133600" cy="344100"/>
          </a:xfrm>
          <a:prstGeom prst="rect">
            <a:avLst/>
          </a:prstGeom>
          <a:noFill/>
          <a:ln>
            <a:noFill/>
          </a:ln>
        </p:spPr>
        <p:txBody>
          <a:bodyPr anchorCtr="0" anchor="ctr" bIns="54850" lIns="73150" spcFirstLastPara="1" rIns="73150" wrap="square" tIns="54850">
            <a:spAutoFit/>
          </a:bodyPr>
          <a:lstStyle/>
          <a:p>
            <a:pPr indent="0" lvl="0" marL="0" marR="0" rtl="0" algn="l">
              <a:lnSpc>
                <a:spcPct val="163117"/>
              </a:lnSpc>
              <a:spcBef>
                <a:spcPts val="0"/>
              </a:spcBef>
              <a:spcAft>
                <a:spcPts val="0"/>
              </a:spcAft>
              <a:buNone/>
            </a:pPr>
            <a:r>
              <a:rPr b="1" i="0" lang="en-US" sz="1515" u="none" cap="none" strike="noStrike">
                <a:solidFill>
                  <a:srgbClr val="FFFFFF"/>
                </a:solidFill>
                <a:latin typeface="BioRhyme"/>
                <a:ea typeface="BioRhyme"/>
                <a:cs typeface="BioRhyme"/>
                <a:sym typeface="BioRhyme"/>
              </a:rPr>
              <a:t>Peripheral / Spinal</a:t>
            </a:r>
            <a:endParaRPr sz="1600"/>
          </a:p>
        </p:txBody>
      </p:sp>
      <p:sp>
        <p:nvSpPr>
          <p:cNvPr id="230" name="Google Shape;230;g3cde6623f9b_0_66"/>
          <p:cNvSpPr txBox="1"/>
          <p:nvPr/>
        </p:nvSpPr>
        <p:spPr>
          <a:xfrm>
            <a:off x="876278" y="4810124"/>
            <a:ext cx="15621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1156" u="none" cap="none" strike="noStrike">
                <a:solidFill>
                  <a:srgbClr val="D1D5DB"/>
                </a:solidFill>
                <a:latin typeface="Archivo"/>
                <a:ea typeface="Archivo"/>
                <a:cs typeface="Archivo"/>
                <a:sym typeface="Archivo"/>
              </a:rPr>
              <a:t>• Diabetic</a:t>
            </a:r>
            <a:endParaRPr sz="1600"/>
          </a:p>
        </p:txBody>
      </p:sp>
      <p:sp>
        <p:nvSpPr>
          <p:cNvPr id="231" name="Google Shape;231;g3cde6623f9b_0_66"/>
          <p:cNvSpPr txBox="1"/>
          <p:nvPr/>
        </p:nvSpPr>
        <p:spPr>
          <a:xfrm>
            <a:off x="876278" y="5076825"/>
            <a:ext cx="15621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1156" u="none" cap="none" strike="noStrike">
                <a:solidFill>
                  <a:srgbClr val="D1D5DB"/>
                </a:solidFill>
                <a:latin typeface="Archivo"/>
                <a:ea typeface="Archivo"/>
                <a:cs typeface="Archivo"/>
                <a:sym typeface="Archivo"/>
              </a:rPr>
              <a:t>Neuropathy</a:t>
            </a:r>
            <a:endParaRPr sz="1600"/>
          </a:p>
        </p:txBody>
      </p:sp>
      <p:sp>
        <p:nvSpPr>
          <p:cNvPr id="232" name="Google Shape;232;g3cde6623f9b_0_66"/>
          <p:cNvSpPr txBox="1"/>
          <p:nvPr/>
        </p:nvSpPr>
        <p:spPr>
          <a:xfrm>
            <a:off x="2552636" y="4810124"/>
            <a:ext cx="15621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1156" u="none" cap="none" strike="noStrike">
                <a:solidFill>
                  <a:srgbClr val="D1D5DB"/>
                </a:solidFill>
                <a:latin typeface="Archivo"/>
                <a:ea typeface="Archivo"/>
                <a:cs typeface="Archivo"/>
                <a:sym typeface="Archivo"/>
              </a:rPr>
              <a:t>• </a:t>
            </a:r>
            <a:r>
              <a:rPr b="1" i="0" lang="en-US" sz="1156" u="none" cap="none" strike="noStrike">
                <a:solidFill>
                  <a:srgbClr val="2DFF99"/>
                </a:solidFill>
                <a:latin typeface="Archivo"/>
                <a:ea typeface="Archivo"/>
                <a:cs typeface="Archivo"/>
                <a:sym typeface="Archivo"/>
              </a:rPr>
              <a:t>Tabes Dorsalis</a:t>
            </a:r>
            <a:endParaRPr sz="1600"/>
          </a:p>
        </p:txBody>
      </p:sp>
      <p:sp>
        <p:nvSpPr>
          <p:cNvPr id="233" name="Google Shape;233;g3cde6623f9b_0_66"/>
          <p:cNvSpPr txBox="1"/>
          <p:nvPr/>
        </p:nvSpPr>
        <p:spPr>
          <a:xfrm>
            <a:off x="4228994" y="4810124"/>
            <a:ext cx="15621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1156" u="none" cap="none" strike="noStrike">
                <a:solidFill>
                  <a:srgbClr val="D1D5DB"/>
                </a:solidFill>
                <a:latin typeface="Archivo"/>
                <a:ea typeface="Archivo"/>
                <a:cs typeface="Archivo"/>
                <a:sym typeface="Archivo"/>
              </a:rPr>
              <a:t>• Friedreich's</a:t>
            </a:r>
            <a:endParaRPr sz="1600"/>
          </a:p>
        </p:txBody>
      </p:sp>
      <p:sp>
        <p:nvSpPr>
          <p:cNvPr id="234" name="Google Shape;234;g3cde6623f9b_0_66"/>
          <p:cNvSpPr txBox="1"/>
          <p:nvPr/>
        </p:nvSpPr>
        <p:spPr>
          <a:xfrm>
            <a:off x="4228994" y="5076825"/>
            <a:ext cx="15621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1156" u="none" cap="none" strike="noStrike">
                <a:solidFill>
                  <a:srgbClr val="D1D5DB"/>
                </a:solidFill>
                <a:latin typeface="Archivo"/>
                <a:ea typeface="Archivo"/>
                <a:cs typeface="Archivo"/>
                <a:sym typeface="Archivo"/>
              </a:rPr>
              <a:t>Ataxia</a:t>
            </a:r>
            <a:endParaRPr sz="1600"/>
          </a:p>
        </p:txBody>
      </p:sp>
      <p:sp>
        <p:nvSpPr>
          <p:cNvPr id="235" name="Google Shape;235;g3cde6623f9b_0_66"/>
          <p:cNvSpPr/>
          <p:nvPr/>
        </p:nvSpPr>
        <p:spPr>
          <a:xfrm>
            <a:off x="6191095" y="4171950"/>
            <a:ext cx="5334000" cy="1343100"/>
          </a:xfrm>
          <a:prstGeom prst="roundRect">
            <a:avLst>
              <a:gd fmla="val 17021" name="adj"/>
            </a:avLst>
          </a:prstGeom>
          <a:solidFill>
            <a:srgbClr val="FFFFFF">
              <a:alpha val="5100"/>
            </a:srgbClr>
          </a:solidFill>
          <a:ln cap="flat" cmpd="sng" w="16500">
            <a:solidFill>
              <a:srgbClr val="2DFF9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36" name="Google Shape;236;g3cde6623f9b_0_66"/>
          <p:cNvPicPr preferRelativeResize="0"/>
          <p:nvPr/>
        </p:nvPicPr>
        <p:blipFill rotWithShape="1">
          <a:blip r:embed="rId8">
            <a:alphaModFix/>
          </a:blip>
          <a:srcRect b="0" l="0" r="0" t="0"/>
          <a:stretch/>
        </p:blipFill>
        <p:spPr>
          <a:xfrm>
            <a:off x="6400639" y="4518854"/>
            <a:ext cx="304794" cy="30091"/>
          </a:xfrm>
          <a:prstGeom prst="rect">
            <a:avLst/>
          </a:prstGeom>
          <a:noFill/>
          <a:ln>
            <a:noFill/>
          </a:ln>
        </p:spPr>
      </p:pic>
      <p:sp>
        <p:nvSpPr>
          <p:cNvPr id="237" name="Google Shape;237;g3cde6623f9b_0_66"/>
          <p:cNvSpPr txBox="1"/>
          <p:nvPr/>
        </p:nvSpPr>
        <p:spPr>
          <a:xfrm>
            <a:off x="6819729" y="4381499"/>
            <a:ext cx="2924100" cy="341700"/>
          </a:xfrm>
          <a:prstGeom prst="rect">
            <a:avLst/>
          </a:prstGeom>
          <a:noFill/>
          <a:ln>
            <a:noFill/>
          </a:ln>
        </p:spPr>
        <p:txBody>
          <a:bodyPr anchorCtr="0" anchor="ctr" bIns="54850" lIns="73150" spcFirstLastPara="1" rIns="73150" wrap="square" tIns="54850">
            <a:spAutoFit/>
          </a:bodyPr>
          <a:lstStyle/>
          <a:p>
            <a:pPr indent="0" lvl="0" marL="0" marR="0" rtl="0" algn="l">
              <a:lnSpc>
                <a:spcPct val="163117"/>
              </a:lnSpc>
              <a:spcBef>
                <a:spcPts val="0"/>
              </a:spcBef>
              <a:spcAft>
                <a:spcPts val="0"/>
              </a:spcAft>
              <a:buNone/>
            </a:pPr>
            <a:r>
              <a:rPr b="1" i="0" lang="en-US" sz="1500" u="none" cap="none" strike="noStrike">
                <a:solidFill>
                  <a:srgbClr val="FFFFFF"/>
                </a:solidFill>
                <a:latin typeface="BioRhyme"/>
                <a:ea typeface="BioRhyme"/>
                <a:cs typeface="BioRhyme"/>
                <a:sym typeface="BioRhyme"/>
              </a:rPr>
              <a:t>Psychological / Functional</a:t>
            </a:r>
            <a:endParaRPr sz="1500"/>
          </a:p>
        </p:txBody>
      </p:sp>
      <p:sp>
        <p:nvSpPr>
          <p:cNvPr id="238" name="Google Shape;238;g3cde6623f9b_0_66"/>
          <p:cNvSpPr txBox="1"/>
          <p:nvPr/>
        </p:nvSpPr>
        <p:spPr>
          <a:xfrm>
            <a:off x="6400639" y="4810124"/>
            <a:ext cx="24003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1156" u="none" cap="none" strike="noStrike">
                <a:solidFill>
                  <a:srgbClr val="D1D5DB"/>
                </a:solidFill>
                <a:latin typeface="Archivo"/>
                <a:ea typeface="Archivo"/>
                <a:cs typeface="Archivo"/>
                <a:sym typeface="Archivo"/>
              </a:rPr>
              <a:t>• Functional Neurological</a:t>
            </a:r>
            <a:endParaRPr sz="1600"/>
          </a:p>
        </p:txBody>
      </p:sp>
      <p:sp>
        <p:nvSpPr>
          <p:cNvPr id="239" name="Google Shape;239;g3cde6623f9b_0_66"/>
          <p:cNvSpPr txBox="1"/>
          <p:nvPr/>
        </p:nvSpPr>
        <p:spPr>
          <a:xfrm>
            <a:off x="6400639" y="5076825"/>
            <a:ext cx="24003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1156" u="none" cap="none" strike="noStrike">
                <a:solidFill>
                  <a:srgbClr val="D1D5DB"/>
                </a:solidFill>
                <a:latin typeface="Archivo"/>
                <a:ea typeface="Archivo"/>
                <a:cs typeface="Archivo"/>
                <a:sym typeface="Archivo"/>
              </a:rPr>
              <a:t>Disorder (FND)</a:t>
            </a:r>
            <a:endParaRPr sz="1600"/>
          </a:p>
        </p:txBody>
      </p:sp>
      <p:sp>
        <p:nvSpPr>
          <p:cNvPr id="240" name="Google Shape;240;g3cde6623f9b_0_66"/>
          <p:cNvSpPr txBox="1"/>
          <p:nvPr/>
        </p:nvSpPr>
        <p:spPr>
          <a:xfrm>
            <a:off x="8915177" y="4810124"/>
            <a:ext cx="2400300" cy="288600"/>
          </a:xfrm>
          <a:prstGeom prst="rect">
            <a:avLst/>
          </a:prstGeom>
          <a:noFill/>
          <a:ln>
            <a:noFill/>
          </a:ln>
        </p:spPr>
        <p:txBody>
          <a:bodyPr anchorCtr="0" anchor="ctr" bIns="54850" lIns="73150" spcFirstLastPara="1" rIns="73150" wrap="square" tIns="54850">
            <a:spAutoFit/>
          </a:bodyPr>
          <a:lstStyle/>
          <a:p>
            <a:pPr indent="0" lvl="0" marL="0" marR="0" rtl="0" algn="l">
              <a:lnSpc>
                <a:spcPct val="163179"/>
              </a:lnSpc>
              <a:spcBef>
                <a:spcPts val="0"/>
              </a:spcBef>
              <a:spcAft>
                <a:spcPts val="0"/>
              </a:spcAft>
              <a:buNone/>
            </a:pPr>
            <a:r>
              <a:rPr b="0" i="0" lang="en-US" sz="1156" u="none" cap="none" strike="noStrike">
                <a:solidFill>
                  <a:srgbClr val="D1D5DB"/>
                </a:solidFill>
                <a:latin typeface="Archivo"/>
                <a:ea typeface="Archivo"/>
                <a:cs typeface="Archivo"/>
                <a:sym typeface="Archivo"/>
              </a:rPr>
              <a:t>• Conversion Disorder</a:t>
            </a:r>
            <a:endParaRPr sz="1600"/>
          </a:p>
        </p:txBody>
      </p:sp>
      <p:sp>
        <p:nvSpPr>
          <p:cNvPr id="241" name="Google Shape;241;g3cde6623f9b_0_66"/>
          <p:cNvSpPr/>
          <p:nvPr/>
        </p:nvSpPr>
        <p:spPr>
          <a:xfrm>
            <a:off x="666733" y="5819775"/>
            <a:ext cx="10858200" cy="1000200"/>
          </a:xfrm>
          <a:prstGeom prst="roundRect">
            <a:avLst>
              <a:gd fmla="val 22857" name="adj"/>
            </a:avLst>
          </a:prstGeom>
          <a:solidFill>
            <a:srgbClr val="2DFF9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g3cde6623f9b_0_66"/>
          <p:cNvSpPr/>
          <p:nvPr/>
        </p:nvSpPr>
        <p:spPr>
          <a:xfrm rot="-5400000">
            <a:off x="232634" y="6253799"/>
            <a:ext cx="1000200" cy="132000"/>
          </a:xfrm>
          <a:prstGeom prst="round2SameRect">
            <a:avLst>
              <a:gd fmla="val 50000" name="adj1"/>
              <a:gd fmla="val 0" name="adj2"/>
            </a:avLst>
          </a:prstGeom>
          <a:solidFill>
            <a:srgbClr val="E5E7E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43" name="Google Shape;243;g3cde6623f9b_0_66"/>
          <p:cNvPicPr preferRelativeResize="0"/>
          <p:nvPr/>
        </p:nvPicPr>
        <p:blipFill rotWithShape="1">
          <a:blip r:embed="rId9">
            <a:alphaModFix/>
          </a:blip>
          <a:srcRect b="0" l="0" r="0" t="0"/>
          <a:stretch/>
        </p:blipFill>
        <p:spPr>
          <a:xfrm>
            <a:off x="895327" y="6211542"/>
            <a:ext cx="266693" cy="226115"/>
          </a:xfrm>
          <a:prstGeom prst="rect">
            <a:avLst/>
          </a:prstGeom>
          <a:noFill/>
          <a:ln>
            <a:noFill/>
          </a:ln>
        </p:spPr>
      </p:pic>
      <p:sp>
        <p:nvSpPr>
          <p:cNvPr id="244" name="Google Shape;244;g3cde6623f9b_0_66"/>
          <p:cNvSpPr txBox="1"/>
          <p:nvPr/>
        </p:nvSpPr>
        <p:spPr>
          <a:xfrm>
            <a:off x="1314417" y="6010274"/>
            <a:ext cx="10020000" cy="741600"/>
          </a:xfrm>
          <a:prstGeom prst="rect">
            <a:avLst/>
          </a:prstGeom>
          <a:noFill/>
          <a:ln>
            <a:noFill/>
          </a:ln>
        </p:spPr>
        <p:txBody>
          <a:bodyPr anchorCtr="0" anchor="ctr" bIns="54850" lIns="73150" spcFirstLastPara="1" rIns="73150" wrap="square" tIns="54850">
            <a:spAutoFit/>
          </a:bodyPr>
          <a:lstStyle/>
          <a:p>
            <a:pPr indent="0" lvl="0" marL="0" marR="0" rtl="0" algn="l">
              <a:lnSpc>
                <a:spcPct val="173913"/>
              </a:lnSpc>
              <a:spcBef>
                <a:spcPts val="0"/>
              </a:spcBef>
              <a:spcAft>
                <a:spcPts val="0"/>
              </a:spcAft>
              <a:buNone/>
            </a:pPr>
            <a:r>
              <a:rPr b="0" i="0" lang="en-US" sz="1496" u="none" cap="none" strike="noStrike">
                <a:solidFill>
                  <a:srgbClr val="183328"/>
                </a:solidFill>
                <a:latin typeface="Archivo"/>
                <a:ea typeface="Archivo"/>
                <a:cs typeface="Archivo"/>
                <a:sym typeface="Archivo"/>
              </a:rPr>
              <a:t>All conditions involve disrupted proprioception, motor awareness, or sensory integration</a:t>
            </a:r>
            <a:r>
              <a:rPr lang="en-US" sz="1496">
                <a:solidFill>
                  <a:srgbClr val="183328"/>
                </a:solidFill>
                <a:latin typeface="Archivo"/>
                <a:ea typeface="Archivo"/>
                <a:cs typeface="Archivo"/>
                <a:sym typeface="Archivo"/>
              </a:rPr>
              <a:t>, </a:t>
            </a:r>
            <a:r>
              <a:rPr b="0" i="0" lang="en-US" sz="1496" u="none" cap="none" strike="noStrike">
                <a:solidFill>
                  <a:srgbClr val="183328"/>
                </a:solidFill>
                <a:latin typeface="Archivo"/>
                <a:ea typeface="Archivo"/>
                <a:cs typeface="Archivo"/>
                <a:sym typeface="Archivo"/>
              </a:rPr>
              <a:t> treatable through forced engagement therapy </a:t>
            </a:r>
            <a:endParaRPr sz="1700">
              <a:solidFill>
                <a:srgbClr val="183328"/>
              </a:solidFill>
            </a:endParaRPr>
          </a:p>
        </p:txBody>
      </p:sp>
      <p:sp>
        <p:nvSpPr>
          <p:cNvPr id="245" name="Google Shape;245;g3cde6623f9b_0_66"/>
          <p:cNvSpPr/>
          <p:nvPr/>
        </p:nvSpPr>
        <p:spPr>
          <a:xfrm>
            <a:off x="0" y="7200900"/>
            <a:ext cx="12191700" cy="38100"/>
          </a:xfrm>
          <a:prstGeom prst="rect">
            <a:avLst/>
          </a:prstGeom>
          <a:gradFill>
            <a:gsLst>
              <a:gs pos="0">
                <a:srgbClr val="000000">
                  <a:alpha val="0"/>
                </a:srgbClr>
              </a:gs>
              <a:gs pos="50000">
                <a:srgbClr val="2DFF99"/>
              </a:gs>
              <a:gs pos="100000">
                <a:srgbClr val="000000">
                  <a:alpha val="0"/>
                </a:srgbClr>
              </a:gs>
            </a:gsLst>
            <a:lin ang="10800025" scaled="0"/>
          </a:gra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3328"/>
        </a:solidFill>
      </p:bgPr>
    </p:bg>
    <p:spTree>
      <p:nvGrpSpPr>
        <p:cNvPr id="249" name="Shape 249"/>
        <p:cNvGrpSpPr/>
        <p:nvPr/>
      </p:nvGrpSpPr>
      <p:grpSpPr>
        <a:xfrm>
          <a:off x="0" y="0"/>
          <a:ext cx="0" cy="0"/>
          <a:chOff x="0" y="0"/>
          <a:chExt cx="0" cy="0"/>
        </a:xfrm>
      </p:grpSpPr>
      <p:sp>
        <p:nvSpPr>
          <p:cNvPr id="250" name="Google Shape;250;g3cde6623f9b_0_39"/>
          <p:cNvSpPr/>
          <p:nvPr/>
        </p:nvSpPr>
        <p:spPr>
          <a:xfrm>
            <a:off x="5448163" y="180474"/>
            <a:ext cx="1295400" cy="1362000"/>
          </a:xfrm>
          <a:prstGeom prst="roundRect">
            <a:avLst>
              <a:gd fmla="val 14704411" name="adj"/>
            </a:avLst>
          </a:prstGeom>
          <a:solidFill>
            <a:srgbClr val="2DFF9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51" name="Google Shape;251;g3cde6623f9b_0_39"/>
          <p:cNvPicPr preferRelativeResize="0"/>
          <p:nvPr/>
        </p:nvPicPr>
        <p:blipFill rotWithShape="1">
          <a:blip r:embed="rId3">
            <a:alphaModFix/>
          </a:blip>
          <a:srcRect b="0" l="0" r="0" t="0"/>
          <a:stretch/>
        </p:blipFill>
        <p:spPr>
          <a:xfrm>
            <a:off x="5752956" y="563344"/>
            <a:ext cx="685782" cy="529658"/>
          </a:xfrm>
          <a:prstGeom prst="rect">
            <a:avLst/>
          </a:prstGeom>
          <a:noFill/>
          <a:ln>
            <a:noFill/>
          </a:ln>
        </p:spPr>
      </p:pic>
      <p:sp>
        <p:nvSpPr>
          <p:cNvPr id="252" name="Google Shape;252;g3cde6623f9b_0_39"/>
          <p:cNvSpPr txBox="1"/>
          <p:nvPr/>
        </p:nvSpPr>
        <p:spPr>
          <a:xfrm>
            <a:off x="2390715" y="1743075"/>
            <a:ext cx="7419900" cy="1326600"/>
          </a:xfrm>
          <a:prstGeom prst="rect">
            <a:avLst/>
          </a:prstGeom>
          <a:noFill/>
          <a:ln>
            <a:noFill/>
          </a:ln>
        </p:spPr>
        <p:txBody>
          <a:bodyPr anchorCtr="0" anchor="ctr" bIns="54850" lIns="73150" spcFirstLastPara="1" rIns="73150" wrap="square" tIns="54850">
            <a:spAutoFit/>
          </a:bodyPr>
          <a:lstStyle/>
          <a:p>
            <a:pPr indent="0" lvl="0" marL="0" marR="0" rtl="0" algn="ctr">
              <a:lnSpc>
                <a:spcPct val="135902"/>
              </a:lnSpc>
              <a:spcBef>
                <a:spcPts val="0"/>
              </a:spcBef>
              <a:spcAft>
                <a:spcPts val="0"/>
              </a:spcAft>
              <a:buNone/>
            </a:pPr>
            <a:r>
              <a:rPr b="1" i="0" lang="en-US" sz="3348" u="none" cap="none" strike="noStrike">
                <a:solidFill>
                  <a:srgbClr val="FFFFFF"/>
                </a:solidFill>
                <a:latin typeface="BioRhyme"/>
                <a:ea typeface="BioRhyme"/>
                <a:cs typeface="BioRhyme"/>
                <a:sym typeface="BioRhyme"/>
              </a:rPr>
              <a:t> Join Us in Revolutionizing</a:t>
            </a:r>
            <a:br>
              <a:rPr b="1" i="0" lang="en-US" sz="1104" u="none" cap="none" strike="noStrike">
                <a:solidFill>
                  <a:schemeClr val="dk1"/>
                </a:solidFill>
                <a:latin typeface="Calibri"/>
                <a:ea typeface="Calibri"/>
                <a:cs typeface="Calibri"/>
                <a:sym typeface="Calibri"/>
              </a:rPr>
            </a:br>
            <a:r>
              <a:rPr b="1" i="0" lang="en-US" sz="3348" u="none" cap="none" strike="noStrike">
                <a:solidFill>
                  <a:srgbClr val="FFFFFF"/>
                </a:solidFill>
                <a:latin typeface="BioRhyme"/>
                <a:ea typeface="BioRhyme"/>
                <a:cs typeface="BioRhyme"/>
                <a:sym typeface="BioRhyme"/>
              </a:rPr>
              <a:t> </a:t>
            </a:r>
            <a:r>
              <a:rPr b="1" i="0" lang="en-US" sz="3348" u="none" cap="none" strike="noStrike">
                <a:solidFill>
                  <a:srgbClr val="2DFF99"/>
                </a:solidFill>
                <a:latin typeface="BioRhyme"/>
                <a:ea typeface="BioRhyme"/>
                <a:cs typeface="BioRhyme"/>
                <a:sym typeface="BioRhyme"/>
              </a:rPr>
              <a:t>Stroke Rehabilitation</a:t>
            </a:r>
            <a:r>
              <a:rPr b="1" i="0" lang="en-US" sz="3348" u="none" cap="none" strike="noStrike">
                <a:solidFill>
                  <a:srgbClr val="FFFFFF"/>
                </a:solidFill>
                <a:latin typeface="BioRhyme"/>
                <a:ea typeface="BioRhyme"/>
                <a:cs typeface="BioRhyme"/>
                <a:sym typeface="BioRhyme"/>
              </a:rPr>
              <a:t> </a:t>
            </a:r>
            <a:endParaRPr b="1"/>
          </a:p>
        </p:txBody>
      </p:sp>
      <p:sp>
        <p:nvSpPr>
          <p:cNvPr id="253" name="Google Shape;253;g3cde6623f9b_0_39"/>
          <p:cNvSpPr txBox="1"/>
          <p:nvPr/>
        </p:nvSpPr>
        <p:spPr>
          <a:xfrm>
            <a:off x="1113176" y="4351275"/>
            <a:ext cx="3006000" cy="1080000"/>
          </a:xfrm>
          <a:prstGeom prst="rect">
            <a:avLst/>
          </a:prstGeom>
          <a:noFill/>
          <a:ln>
            <a:noFill/>
          </a:ln>
        </p:spPr>
        <p:txBody>
          <a:bodyPr anchorCtr="0" anchor="ctr" bIns="98925" lIns="131925" spcFirstLastPara="1" rIns="131925" wrap="square" tIns="98925">
            <a:spAutoFit/>
          </a:bodyPr>
          <a:lstStyle/>
          <a:p>
            <a:pPr indent="0" lvl="0" marL="0" marR="0" rtl="0" algn="ctr">
              <a:lnSpc>
                <a:spcPct val="108710"/>
              </a:lnSpc>
              <a:spcBef>
                <a:spcPts val="0"/>
              </a:spcBef>
              <a:spcAft>
                <a:spcPts val="0"/>
              </a:spcAft>
              <a:buNone/>
            </a:pPr>
            <a:r>
              <a:rPr b="1" i="0" lang="en-US" sz="5717" u="none" cap="none" strike="noStrike">
                <a:solidFill>
                  <a:srgbClr val="2DFF99"/>
                </a:solidFill>
                <a:latin typeface="BioRhyme"/>
                <a:ea typeface="BioRhyme"/>
                <a:cs typeface="BioRhyme"/>
                <a:sym typeface="BioRhyme"/>
              </a:rPr>
              <a:t>150M+</a:t>
            </a:r>
            <a:endParaRPr sz="3066"/>
          </a:p>
        </p:txBody>
      </p:sp>
      <p:sp>
        <p:nvSpPr>
          <p:cNvPr id="254" name="Google Shape;254;g3cde6623f9b_0_39"/>
          <p:cNvSpPr txBox="1"/>
          <p:nvPr/>
        </p:nvSpPr>
        <p:spPr>
          <a:xfrm>
            <a:off x="1113150" y="5313296"/>
            <a:ext cx="2404800" cy="1204800"/>
          </a:xfrm>
          <a:prstGeom prst="rect">
            <a:avLst/>
          </a:prstGeom>
          <a:noFill/>
          <a:ln>
            <a:noFill/>
          </a:ln>
        </p:spPr>
        <p:txBody>
          <a:bodyPr anchorCtr="0" anchor="ctr" bIns="98925" lIns="131925" spcFirstLastPara="1" rIns="131925" wrap="square" tIns="98925">
            <a:spAutoFit/>
          </a:bodyPr>
          <a:lstStyle/>
          <a:p>
            <a:pPr indent="0" lvl="0" marL="0" marR="0" rtl="0" algn="ctr">
              <a:lnSpc>
                <a:spcPct val="163104"/>
              </a:lnSpc>
              <a:spcBef>
                <a:spcPts val="0"/>
              </a:spcBef>
              <a:spcAft>
                <a:spcPts val="0"/>
              </a:spcAft>
              <a:buNone/>
            </a:pPr>
            <a:r>
              <a:rPr b="0" i="0" lang="en-US" sz="2481" u="none" cap="none" strike="noStrike">
                <a:solidFill>
                  <a:srgbClr val="9CA3AF"/>
                </a:solidFill>
                <a:latin typeface="Archivo"/>
                <a:ea typeface="Archivo"/>
                <a:cs typeface="Archivo"/>
                <a:sym typeface="Archivo"/>
              </a:rPr>
              <a:t>Potential Patients</a:t>
            </a:r>
            <a:endParaRPr sz="3066"/>
          </a:p>
        </p:txBody>
      </p:sp>
      <p:sp>
        <p:nvSpPr>
          <p:cNvPr id="255" name="Google Shape;255;g3cde6623f9b_0_39"/>
          <p:cNvSpPr/>
          <p:nvPr/>
        </p:nvSpPr>
        <p:spPr>
          <a:xfrm>
            <a:off x="4342698" y="4643317"/>
            <a:ext cx="17400" cy="824700"/>
          </a:xfrm>
          <a:prstGeom prst="rect">
            <a:avLst/>
          </a:prstGeom>
          <a:solidFill>
            <a:srgbClr val="FFFFFF">
              <a:alpha val="20000"/>
            </a:srgbClr>
          </a:solidFill>
          <a:ln>
            <a:noFill/>
          </a:ln>
          <a:effectLst>
            <a:outerShdw blurRad="72142" rotWithShape="0" dir="5400000" dist="41482">
              <a:srgbClr val="000000">
                <a:alpha val="34900"/>
              </a:srgbClr>
            </a:outerShdw>
          </a:effectLst>
        </p:spPr>
        <p:txBody>
          <a:bodyPr anchorCtr="0" anchor="ctr" bIns="82425" lIns="164875" spcFirstLastPara="1" rIns="164875" wrap="square" tIns="82425">
            <a:noAutofit/>
          </a:bodyPr>
          <a:lstStyle/>
          <a:p>
            <a:pPr indent="0" lvl="0" marL="0" marR="0" rtl="0" algn="ctr">
              <a:spcBef>
                <a:spcPts val="0"/>
              </a:spcBef>
              <a:spcAft>
                <a:spcPts val="0"/>
              </a:spcAft>
              <a:buNone/>
            </a:pPr>
            <a:r>
              <a:t/>
            </a:r>
            <a:endParaRPr b="0" i="0" sz="3787" u="none" cap="none" strike="noStrike">
              <a:solidFill>
                <a:schemeClr val="dk1"/>
              </a:solidFill>
              <a:latin typeface="Calibri"/>
              <a:ea typeface="Calibri"/>
              <a:cs typeface="Calibri"/>
              <a:sym typeface="Calibri"/>
            </a:endParaRPr>
          </a:p>
        </p:txBody>
      </p:sp>
      <p:sp>
        <p:nvSpPr>
          <p:cNvPr id="256" name="Google Shape;256;g3cde6623f9b_0_39"/>
          <p:cNvSpPr txBox="1"/>
          <p:nvPr/>
        </p:nvSpPr>
        <p:spPr>
          <a:xfrm>
            <a:off x="5184441" y="4351275"/>
            <a:ext cx="2267700" cy="1080000"/>
          </a:xfrm>
          <a:prstGeom prst="rect">
            <a:avLst/>
          </a:prstGeom>
          <a:noFill/>
          <a:ln>
            <a:noFill/>
          </a:ln>
        </p:spPr>
        <p:txBody>
          <a:bodyPr anchorCtr="0" anchor="ctr" bIns="98925" lIns="131925" spcFirstLastPara="1" rIns="131925" wrap="square" tIns="98925">
            <a:spAutoFit/>
          </a:bodyPr>
          <a:lstStyle/>
          <a:p>
            <a:pPr indent="0" lvl="0" marL="0" marR="0" rtl="0" algn="ctr">
              <a:lnSpc>
                <a:spcPct val="108710"/>
              </a:lnSpc>
              <a:spcBef>
                <a:spcPts val="0"/>
              </a:spcBef>
              <a:spcAft>
                <a:spcPts val="0"/>
              </a:spcAft>
              <a:buNone/>
            </a:pPr>
            <a:r>
              <a:rPr b="1" i="0" lang="en-US" sz="5717" u="none" cap="none" strike="noStrike">
                <a:solidFill>
                  <a:srgbClr val="2DFF99"/>
                </a:solidFill>
                <a:latin typeface="BioRhyme"/>
                <a:ea typeface="BioRhyme"/>
                <a:cs typeface="BioRhyme"/>
                <a:sym typeface="BioRhyme"/>
              </a:rPr>
              <a:t>50%</a:t>
            </a:r>
            <a:endParaRPr sz="3066"/>
          </a:p>
        </p:txBody>
      </p:sp>
      <p:sp>
        <p:nvSpPr>
          <p:cNvPr id="257" name="Google Shape;257;g3cde6623f9b_0_39"/>
          <p:cNvSpPr txBox="1"/>
          <p:nvPr/>
        </p:nvSpPr>
        <p:spPr>
          <a:xfrm>
            <a:off x="5184441" y="5313296"/>
            <a:ext cx="2267700" cy="1204800"/>
          </a:xfrm>
          <a:prstGeom prst="rect">
            <a:avLst/>
          </a:prstGeom>
          <a:noFill/>
          <a:ln>
            <a:noFill/>
          </a:ln>
        </p:spPr>
        <p:txBody>
          <a:bodyPr anchorCtr="0" anchor="ctr" bIns="98925" lIns="131925" spcFirstLastPara="1" rIns="131925" wrap="square" tIns="98925">
            <a:spAutoFit/>
          </a:bodyPr>
          <a:lstStyle/>
          <a:p>
            <a:pPr indent="0" lvl="0" marL="0" marR="0" rtl="0" algn="ctr">
              <a:lnSpc>
                <a:spcPct val="163104"/>
              </a:lnSpc>
              <a:spcBef>
                <a:spcPts val="0"/>
              </a:spcBef>
              <a:spcAft>
                <a:spcPts val="0"/>
              </a:spcAft>
              <a:buNone/>
            </a:pPr>
            <a:r>
              <a:rPr b="0" i="0" lang="en-US" sz="2481" u="none" cap="none" strike="noStrike">
                <a:solidFill>
                  <a:srgbClr val="9CA3AF"/>
                </a:solidFill>
                <a:latin typeface="Archivo"/>
                <a:ea typeface="Archivo"/>
                <a:cs typeface="Archivo"/>
                <a:sym typeface="Archivo"/>
              </a:rPr>
              <a:t>Stroke Survivors</a:t>
            </a:r>
            <a:endParaRPr sz="3066"/>
          </a:p>
        </p:txBody>
      </p:sp>
      <p:sp>
        <p:nvSpPr>
          <p:cNvPr id="258" name="Google Shape;258;g3cde6623f9b_0_39"/>
          <p:cNvSpPr/>
          <p:nvPr/>
        </p:nvSpPr>
        <p:spPr>
          <a:xfrm>
            <a:off x="8259383" y="4643317"/>
            <a:ext cx="17400" cy="824700"/>
          </a:xfrm>
          <a:prstGeom prst="rect">
            <a:avLst/>
          </a:prstGeom>
          <a:solidFill>
            <a:srgbClr val="FFFFFF">
              <a:alpha val="20000"/>
            </a:srgbClr>
          </a:solidFill>
          <a:ln>
            <a:noFill/>
          </a:ln>
          <a:effectLst>
            <a:outerShdw blurRad="72142" rotWithShape="0" dir="5400000" dist="41482">
              <a:srgbClr val="000000">
                <a:alpha val="34900"/>
              </a:srgbClr>
            </a:outerShdw>
          </a:effectLst>
        </p:spPr>
        <p:txBody>
          <a:bodyPr anchorCtr="0" anchor="ctr" bIns="82425" lIns="164875" spcFirstLastPara="1" rIns="164875" wrap="square" tIns="82425">
            <a:noAutofit/>
          </a:bodyPr>
          <a:lstStyle/>
          <a:p>
            <a:pPr indent="0" lvl="0" marL="0" marR="0" rtl="0" algn="ctr">
              <a:spcBef>
                <a:spcPts val="0"/>
              </a:spcBef>
              <a:spcAft>
                <a:spcPts val="0"/>
              </a:spcAft>
              <a:buNone/>
            </a:pPr>
            <a:r>
              <a:t/>
            </a:r>
            <a:endParaRPr b="0" i="0" sz="3787" u="none" cap="none" strike="noStrike">
              <a:solidFill>
                <a:schemeClr val="dk1"/>
              </a:solidFill>
              <a:latin typeface="Calibri"/>
              <a:ea typeface="Calibri"/>
              <a:cs typeface="Calibri"/>
              <a:sym typeface="Calibri"/>
            </a:endParaRPr>
          </a:p>
        </p:txBody>
      </p:sp>
      <p:sp>
        <p:nvSpPr>
          <p:cNvPr id="259" name="Google Shape;259;g3cde6623f9b_0_39"/>
          <p:cNvSpPr txBox="1"/>
          <p:nvPr/>
        </p:nvSpPr>
        <p:spPr>
          <a:xfrm>
            <a:off x="9101128" y="4351275"/>
            <a:ext cx="1597800" cy="1080000"/>
          </a:xfrm>
          <a:prstGeom prst="rect">
            <a:avLst/>
          </a:prstGeom>
          <a:noFill/>
          <a:ln>
            <a:noFill/>
          </a:ln>
        </p:spPr>
        <p:txBody>
          <a:bodyPr anchorCtr="0" anchor="ctr" bIns="98925" lIns="131925" spcFirstLastPara="1" rIns="131925" wrap="square" tIns="98925">
            <a:spAutoFit/>
          </a:bodyPr>
          <a:lstStyle/>
          <a:p>
            <a:pPr indent="0" lvl="0" marL="0" marR="0" rtl="0" algn="ctr">
              <a:lnSpc>
                <a:spcPct val="108710"/>
              </a:lnSpc>
              <a:spcBef>
                <a:spcPts val="0"/>
              </a:spcBef>
              <a:spcAft>
                <a:spcPts val="0"/>
              </a:spcAft>
              <a:buNone/>
            </a:pPr>
            <a:r>
              <a:rPr b="1" i="0" lang="en-US" sz="5717" u="none" cap="none" strike="noStrike">
                <a:solidFill>
                  <a:srgbClr val="2DFF99"/>
                </a:solidFill>
                <a:latin typeface="BioRhyme"/>
                <a:ea typeface="BioRhyme"/>
                <a:cs typeface="BioRhyme"/>
                <a:sym typeface="BioRhyme"/>
              </a:rPr>
              <a:t>AR</a:t>
            </a:r>
            <a:endParaRPr sz="3066"/>
          </a:p>
        </p:txBody>
      </p:sp>
      <p:sp>
        <p:nvSpPr>
          <p:cNvPr id="260" name="Google Shape;260;g3cde6623f9b_0_39"/>
          <p:cNvSpPr txBox="1"/>
          <p:nvPr/>
        </p:nvSpPr>
        <p:spPr>
          <a:xfrm>
            <a:off x="8894574" y="5313300"/>
            <a:ext cx="2010900" cy="581700"/>
          </a:xfrm>
          <a:prstGeom prst="rect">
            <a:avLst/>
          </a:prstGeom>
          <a:noFill/>
          <a:ln>
            <a:noFill/>
          </a:ln>
        </p:spPr>
        <p:txBody>
          <a:bodyPr anchorCtr="0" anchor="ctr" bIns="98925" lIns="131925" spcFirstLastPara="1" rIns="131925" wrap="square" tIns="98925">
            <a:spAutoFit/>
          </a:bodyPr>
          <a:lstStyle/>
          <a:p>
            <a:pPr indent="0" lvl="0" marL="0" marR="0" rtl="0" algn="ctr">
              <a:lnSpc>
                <a:spcPct val="163104"/>
              </a:lnSpc>
              <a:spcBef>
                <a:spcPts val="0"/>
              </a:spcBef>
              <a:spcAft>
                <a:spcPts val="0"/>
              </a:spcAft>
              <a:buNone/>
            </a:pPr>
            <a:r>
              <a:rPr b="0" i="0" lang="en-US" sz="2481" u="none" cap="none" strike="noStrike">
                <a:solidFill>
                  <a:srgbClr val="9CA3AF"/>
                </a:solidFill>
                <a:latin typeface="Archivo"/>
                <a:ea typeface="Archivo"/>
                <a:cs typeface="Archivo"/>
                <a:sym typeface="Archivo"/>
              </a:rPr>
              <a:t>Technology</a:t>
            </a:r>
            <a:endParaRPr sz="3066"/>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